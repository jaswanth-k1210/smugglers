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302" r:id="rId3"/>
    <p:sldId id="303" r:id="rId4"/>
    <p:sldId id="304" r:id="rId5"/>
    <p:sldId id="305" r:id="rId6"/>
    <p:sldId id="306" r:id="rId7"/>
    <p:sldId id="308" r:id="rId8"/>
    <p:sldId id="307" r:id="rId9"/>
    <p:sldId id="280" r:id="rId10"/>
    <p:sldId id="274" r:id="rId11"/>
    <p:sldId id="296" r:id="rId12"/>
    <p:sldId id="293" r:id="rId13"/>
    <p:sldId id="294" r:id="rId14"/>
    <p:sldId id="297" r:id="rId15"/>
    <p:sldId id="298" r:id="rId16"/>
    <p:sldId id="299" r:id="rId17"/>
    <p:sldId id="309" r:id="rId18"/>
    <p:sldId id="310" r:id="rId19"/>
    <p:sldId id="311" r:id="rId20"/>
    <p:sldId id="300" r:id="rId21"/>
    <p:sldId id="301" r:id="rId22"/>
    <p:sldId id="295" r:id="rId23"/>
  </p:sldIdLst>
  <p:sldSz cx="9144000" cy="5143500" type="screen16x9"/>
  <p:notesSz cx="9144000" cy="5143500"/>
  <p:embeddedFontLst>
    <p:embeddedFont>
      <p:font typeface="Cambria" panose="02040503050406030204" pitchFamily="18"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880" userDrawn="1">
          <p15:clr>
            <a:srgbClr val="A4A3A4"/>
          </p15:clr>
        </p15:guide>
        <p15:guide id="2" pos="21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47" autoAdjust="0"/>
    <p:restoredTop sz="96340" autoAdjust="0"/>
  </p:normalViewPr>
  <p:slideViewPr>
    <p:cSldViewPr snapToGrid="0" showGuides="1">
      <p:cViewPr varScale="1">
        <p:scale>
          <a:sx n="109" d="100"/>
          <a:sy n="109" d="100"/>
        </p:scale>
        <p:origin x="730" y="82"/>
      </p:cViewPr>
      <p:guideLst>
        <p:guide orient="horz" pos="2880"/>
        <p:guide pos="213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385750"/>
            <a:ext cx="6096300" cy="1928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2443150"/>
            <a:ext cx="7315200" cy="23145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914400" y="2443150"/>
            <a:ext cx="7315200" cy="2314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2" name="Google Shape;42;p1:notes"/>
          <p:cNvSpPr>
            <a:spLocks noGrp="1" noRot="1" noChangeAspect="1"/>
          </p:cNvSpPr>
          <p:nvPr>
            <p:ph type="sldImg" idx="2"/>
          </p:nvPr>
        </p:nvSpPr>
        <p:spPr>
          <a:xfrm>
            <a:off x="2857500" y="385763"/>
            <a:ext cx="3429000" cy="19288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55650" y="28813"/>
            <a:ext cx="7632700" cy="12566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0" i="0">
                <a:solidFill>
                  <a:schemeClr val="dk1"/>
                </a:solidFill>
                <a:latin typeface="Cambria" panose="02040503050406030204"/>
                <a:ea typeface="Cambria" panose="02040503050406030204"/>
                <a:cs typeface="Cambria" panose="02040503050406030204"/>
                <a:sym typeface="Cambria" panose="02040503050406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3"/>
          <p:cNvSpPr txBox="1">
            <a:spLocks noGrp="1"/>
          </p:cNvSpPr>
          <p:nvPr>
            <p:ph type="body" idx="1"/>
          </p:nvPr>
        </p:nvSpPr>
        <p:spPr>
          <a:xfrm>
            <a:off x="561657" y="967422"/>
            <a:ext cx="8076565" cy="338455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3388995" y="4738052"/>
            <a:ext cx="2366010" cy="3606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00" b="0" i="0">
                <a:solidFill>
                  <a:srgbClr val="878787"/>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computer Science</a:t>
            </a:r>
          </a:p>
        </p:txBody>
      </p:sp>
      <p:sp>
        <p:nvSpPr>
          <p:cNvPr id="16" name="Google Shape;16;p3"/>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ldNum" idx="12"/>
          </p:nvPr>
        </p:nvSpPr>
        <p:spPr>
          <a:xfrm>
            <a:off x="8365490" y="4799612"/>
            <a:ext cx="278130" cy="208279"/>
          </a:xfrm>
          <a:prstGeom prst="rect">
            <a:avLst/>
          </a:prstGeom>
          <a:noFill/>
          <a:ln>
            <a:noFill/>
          </a:ln>
        </p:spPr>
        <p:txBody>
          <a:bodyPr spcFirstLastPara="1" wrap="square" lIns="0" tIns="0" rIns="0" bIns="0" anchor="t" anchorCtr="0">
            <a:spAutoFit/>
          </a:bodyPr>
          <a:lstStyle>
            <a:lvl1pPr marL="131445" lvl="0"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1pPr>
            <a:lvl2pPr marL="131445" lvl="1"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2pPr>
            <a:lvl3pPr marL="131445" lvl="2"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3pPr>
            <a:lvl4pPr marL="131445" lvl="3"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4pPr>
            <a:lvl5pPr marL="131445" lvl="4"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5pPr>
            <a:lvl6pPr marL="131445" lvl="5"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6pPr>
            <a:lvl7pPr marL="131445" lvl="6"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7pPr>
            <a:lvl8pPr marL="131445" lvl="7"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8pPr>
            <a:lvl9pPr marL="131445" lvl="8"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9pPr>
          </a:lstStyle>
          <a:p>
            <a:pPr marL="131445" lvl="0" indent="0" algn="l" rtl="0">
              <a:spcBef>
                <a:spcPts val="0"/>
              </a:spcBef>
              <a:spcAft>
                <a:spcPts val="0"/>
              </a:spcAft>
              <a:buNone/>
            </a:pPr>
            <a:fld id="{00000000-1234-1234-1234-123412341234}" type="slidenum">
              <a:rPr lang="en-US"/>
              <a:pPr marL="131445" lvl="0" indent="0" algn="l" rtl="0">
                <a:spcBef>
                  <a:spcPts val="0"/>
                </a:spcBef>
                <a:spcAft>
                  <a:spcPts val="0"/>
                </a:spcAft>
                <a:buNone/>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8"/>
        <p:cNvGrpSpPr/>
        <p:nvPr/>
      </p:nvGrpSpPr>
      <p:grpSpPr>
        <a:xfrm>
          <a:off x="0" y="0"/>
          <a:ext cx="0" cy="0"/>
          <a:chOff x="0" y="0"/>
          <a:chExt cx="0" cy="0"/>
        </a:xfrm>
      </p:grpSpPr>
      <p:sp>
        <p:nvSpPr>
          <p:cNvPr id="19" name="Google Shape;19;p4"/>
          <p:cNvSpPr txBox="1">
            <a:spLocks noGrp="1"/>
          </p:cNvSpPr>
          <p:nvPr>
            <p:ph type="ctrTitle"/>
          </p:nvPr>
        </p:nvSpPr>
        <p:spPr>
          <a:xfrm>
            <a:off x="685800" y="1594485"/>
            <a:ext cx="7772400" cy="108013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0" i="0">
                <a:solidFill>
                  <a:schemeClr val="dk1"/>
                </a:solidFill>
                <a:latin typeface="Cambria" panose="02040503050406030204"/>
                <a:ea typeface="Cambria" panose="02040503050406030204"/>
                <a:cs typeface="Cambria" panose="02040503050406030204"/>
                <a:sym typeface="Cambria" panose="02040503050406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
          <p:cNvSpPr txBox="1">
            <a:spLocks noGrp="1"/>
          </p:cNvSpPr>
          <p:nvPr>
            <p:ph type="subTitle" idx="1"/>
          </p:nvPr>
        </p:nvSpPr>
        <p:spPr>
          <a:xfrm>
            <a:off x="1371600" y="2880360"/>
            <a:ext cx="6400800" cy="12858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3388995" y="4738052"/>
            <a:ext cx="2366010" cy="3606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00" b="0" i="0">
                <a:solidFill>
                  <a:srgbClr val="878787"/>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computer Science</a:t>
            </a:r>
          </a:p>
        </p:txBody>
      </p:sp>
      <p:sp>
        <p:nvSpPr>
          <p:cNvPr id="22" name="Google Shape;22;p4"/>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sldNum" idx="12"/>
          </p:nvPr>
        </p:nvSpPr>
        <p:spPr>
          <a:xfrm>
            <a:off x="8365490" y="4799612"/>
            <a:ext cx="278130" cy="208279"/>
          </a:xfrm>
          <a:prstGeom prst="rect">
            <a:avLst/>
          </a:prstGeom>
          <a:noFill/>
          <a:ln>
            <a:noFill/>
          </a:ln>
        </p:spPr>
        <p:txBody>
          <a:bodyPr spcFirstLastPara="1" wrap="square" lIns="0" tIns="0" rIns="0" bIns="0" anchor="t" anchorCtr="0">
            <a:spAutoFit/>
          </a:bodyPr>
          <a:lstStyle>
            <a:lvl1pPr marL="131445" lvl="0"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1pPr>
            <a:lvl2pPr marL="131445" lvl="1"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2pPr>
            <a:lvl3pPr marL="131445" lvl="2"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3pPr>
            <a:lvl4pPr marL="131445" lvl="3"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4pPr>
            <a:lvl5pPr marL="131445" lvl="4"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5pPr>
            <a:lvl6pPr marL="131445" lvl="5"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6pPr>
            <a:lvl7pPr marL="131445" lvl="6"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7pPr>
            <a:lvl8pPr marL="131445" lvl="7"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8pPr>
            <a:lvl9pPr marL="131445" lvl="8"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9pPr>
          </a:lstStyle>
          <a:p>
            <a:pPr marL="131445" lvl="0" indent="0" algn="l" rtl="0">
              <a:spcBef>
                <a:spcPts val="0"/>
              </a:spcBef>
              <a:spcAft>
                <a:spcPts val="0"/>
              </a:spcAft>
              <a:buNone/>
            </a:pPr>
            <a:fld id="{00000000-1234-1234-1234-123412341234}" type="slidenum">
              <a:rPr lang="en-US"/>
              <a:pPr marL="131445" lvl="0" indent="0" algn="l" rtl="0">
                <a:spcBef>
                  <a:spcPts val="0"/>
                </a:spcBef>
                <a:spcAft>
                  <a:spcPts val="0"/>
                </a:spcAft>
                <a:buNone/>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55650" y="28813"/>
            <a:ext cx="7632700" cy="12566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0" i="0">
                <a:solidFill>
                  <a:schemeClr val="dk1"/>
                </a:solidFill>
                <a:latin typeface="Cambria" panose="02040503050406030204"/>
                <a:ea typeface="Cambria" panose="02040503050406030204"/>
                <a:cs typeface="Cambria" panose="02040503050406030204"/>
                <a:sym typeface="Cambria" panose="02040503050406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5"/>
          <p:cNvSpPr txBox="1">
            <a:spLocks noGrp="1"/>
          </p:cNvSpPr>
          <p:nvPr>
            <p:ph type="body" idx="1"/>
          </p:nvPr>
        </p:nvSpPr>
        <p:spPr>
          <a:xfrm>
            <a:off x="457200" y="1183005"/>
            <a:ext cx="3977640" cy="339471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 name="Google Shape;27;p5"/>
          <p:cNvSpPr txBox="1">
            <a:spLocks noGrp="1"/>
          </p:cNvSpPr>
          <p:nvPr>
            <p:ph type="body" idx="2"/>
          </p:nvPr>
        </p:nvSpPr>
        <p:spPr>
          <a:xfrm>
            <a:off x="4709160" y="1183005"/>
            <a:ext cx="3977640" cy="339471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 name="Google Shape;28;p5"/>
          <p:cNvSpPr txBox="1">
            <a:spLocks noGrp="1"/>
          </p:cNvSpPr>
          <p:nvPr>
            <p:ph type="ftr" idx="11"/>
          </p:nvPr>
        </p:nvSpPr>
        <p:spPr>
          <a:xfrm>
            <a:off x="3388995" y="4738052"/>
            <a:ext cx="2366010" cy="3606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00" b="0" i="0">
                <a:solidFill>
                  <a:srgbClr val="878787"/>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computer Science</a:t>
            </a:r>
          </a:p>
        </p:txBody>
      </p:sp>
      <p:sp>
        <p:nvSpPr>
          <p:cNvPr id="29" name="Google Shape;29;p5"/>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sldNum" idx="12"/>
          </p:nvPr>
        </p:nvSpPr>
        <p:spPr>
          <a:xfrm>
            <a:off x="8365490" y="4799612"/>
            <a:ext cx="278130" cy="208279"/>
          </a:xfrm>
          <a:prstGeom prst="rect">
            <a:avLst/>
          </a:prstGeom>
          <a:noFill/>
          <a:ln>
            <a:noFill/>
          </a:ln>
        </p:spPr>
        <p:txBody>
          <a:bodyPr spcFirstLastPara="1" wrap="square" lIns="0" tIns="0" rIns="0" bIns="0" anchor="t" anchorCtr="0">
            <a:spAutoFit/>
          </a:bodyPr>
          <a:lstStyle>
            <a:lvl1pPr marL="131445" lvl="0"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1pPr>
            <a:lvl2pPr marL="131445" lvl="1"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2pPr>
            <a:lvl3pPr marL="131445" lvl="2"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3pPr>
            <a:lvl4pPr marL="131445" lvl="3"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4pPr>
            <a:lvl5pPr marL="131445" lvl="4"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5pPr>
            <a:lvl6pPr marL="131445" lvl="5"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6pPr>
            <a:lvl7pPr marL="131445" lvl="6"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7pPr>
            <a:lvl8pPr marL="131445" lvl="7"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8pPr>
            <a:lvl9pPr marL="131445" lvl="8"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9pPr>
          </a:lstStyle>
          <a:p>
            <a:pPr marL="131445" lvl="0" indent="0" algn="l" rtl="0">
              <a:spcBef>
                <a:spcPts val="0"/>
              </a:spcBef>
              <a:spcAft>
                <a:spcPts val="0"/>
              </a:spcAft>
              <a:buNone/>
            </a:pPr>
            <a:fld id="{00000000-1234-1234-1234-123412341234}" type="slidenum">
              <a:rPr lang="en-US"/>
              <a:pPr marL="131445" lvl="0" indent="0" algn="l" rtl="0">
                <a:spcBef>
                  <a:spcPts val="0"/>
                </a:spcBef>
                <a:spcAft>
                  <a:spcPts val="0"/>
                </a:spcAft>
                <a:buNone/>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755650" y="28813"/>
            <a:ext cx="7632700" cy="12566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0" i="0">
                <a:solidFill>
                  <a:schemeClr val="dk1"/>
                </a:solidFill>
                <a:latin typeface="Cambria" panose="02040503050406030204"/>
                <a:ea typeface="Cambria" panose="02040503050406030204"/>
                <a:cs typeface="Cambria" panose="02040503050406030204"/>
                <a:sym typeface="Cambria" panose="02040503050406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6"/>
          <p:cNvSpPr txBox="1">
            <a:spLocks noGrp="1"/>
          </p:cNvSpPr>
          <p:nvPr>
            <p:ph type="ftr" idx="11"/>
          </p:nvPr>
        </p:nvSpPr>
        <p:spPr>
          <a:xfrm>
            <a:off x="3388995" y="4738052"/>
            <a:ext cx="2366010" cy="3606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00" b="0" i="0">
                <a:solidFill>
                  <a:srgbClr val="878787"/>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computer Science</a:t>
            </a:r>
          </a:p>
        </p:txBody>
      </p:sp>
      <p:sp>
        <p:nvSpPr>
          <p:cNvPr id="34" name="Google Shape;34;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365490" y="4799612"/>
            <a:ext cx="278130" cy="208279"/>
          </a:xfrm>
          <a:prstGeom prst="rect">
            <a:avLst/>
          </a:prstGeom>
          <a:noFill/>
          <a:ln>
            <a:noFill/>
          </a:ln>
        </p:spPr>
        <p:txBody>
          <a:bodyPr spcFirstLastPara="1" wrap="square" lIns="0" tIns="0" rIns="0" bIns="0" anchor="t" anchorCtr="0">
            <a:spAutoFit/>
          </a:bodyPr>
          <a:lstStyle>
            <a:lvl1pPr marL="131445" lvl="0"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1pPr>
            <a:lvl2pPr marL="131445" lvl="1"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2pPr>
            <a:lvl3pPr marL="131445" lvl="2"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3pPr>
            <a:lvl4pPr marL="131445" lvl="3"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4pPr>
            <a:lvl5pPr marL="131445" lvl="4"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5pPr>
            <a:lvl6pPr marL="131445" lvl="5"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6pPr>
            <a:lvl7pPr marL="131445" lvl="6"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7pPr>
            <a:lvl8pPr marL="131445" lvl="7"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8pPr>
            <a:lvl9pPr marL="131445" lvl="8"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9pPr>
          </a:lstStyle>
          <a:p>
            <a:pPr marL="131445" lvl="0" indent="0" algn="l" rtl="0">
              <a:spcBef>
                <a:spcPts val="0"/>
              </a:spcBef>
              <a:spcAft>
                <a:spcPts val="0"/>
              </a:spcAft>
              <a:buNone/>
            </a:pPr>
            <a:fld id="{00000000-1234-1234-1234-123412341234}" type="slidenum">
              <a:rPr lang="en-US"/>
              <a:pPr marL="131445" lvl="0" indent="0" algn="l" rtl="0">
                <a:spcBef>
                  <a:spcPts val="0"/>
                </a:spcBef>
                <a:spcAft>
                  <a:spcPts val="0"/>
                </a:spcAft>
                <a:buNone/>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6"/>
        <p:cNvGrpSpPr/>
        <p:nvPr/>
      </p:nvGrpSpPr>
      <p:grpSpPr>
        <a:xfrm>
          <a:off x="0" y="0"/>
          <a:ext cx="0" cy="0"/>
          <a:chOff x="0" y="0"/>
          <a:chExt cx="0" cy="0"/>
        </a:xfrm>
      </p:grpSpPr>
      <p:sp>
        <p:nvSpPr>
          <p:cNvPr id="37" name="Google Shape;37;p7"/>
          <p:cNvSpPr txBox="1">
            <a:spLocks noGrp="1"/>
          </p:cNvSpPr>
          <p:nvPr>
            <p:ph type="ftr" idx="11"/>
          </p:nvPr>
        </p:nvSpPr>
        <p:spPr>
          <a:xfrm>
            <a:off x="3388995" y="4738052"/>
            <a:ext cx="2366010" cy="3606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00" b="0" i="0">
                <a:solidFill>
                  <a:srgbClr val="878787"/>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computer Science</a:t>
            </a:r>
          </a:p>
        </p:txBody>
      </p:sp>
      <p:sp>
        <p:nvSpPr>
          <p:cNvPr id="38" name="Google Shape;38;p7"/>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8365490" y="4799612"/>
            <a:ext cx="278130" cy="208279"/>
          </a:xfrm>
          <a:prstGeom prst="rect">
            <a:avLst/>
          </a:prstGeom>
          <a:noFill/>
          <a:ln>
            <a:noFill/>
          </a:ln>
        </p:spPr>
        <p:txBody>
          <a:bodyPr spcFirstLastPara="1" wrap="square" lIns="0" tIns="0" rIns="0" bIns="0" anchor="t" anchorCtr="0">
            <a:spAutoFit/>
          </a:bodyPr>
          <a:lstStyle>
            <a:lvl1pPr marL="131445" lvl="0"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1pPr>
            <a:lvl2pPr marL="131445" lvl="1"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2pPr>
            <a:lvl3pPr marL="131445" lvl="2"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3pPr>
            <a:lvl4pPr marL="131445" lvl="3"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4pPr>
            <a:lvl5pPr marL="131445" lvl="4"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5pPr>
            <a:lvl6pPr marL="131445" lvl="5"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6pPr>
            <a:lvl7pPr marL="131445" lvl="6"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7pPr>
            <a:lvl8pPr marL="131445" lvl="7"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8pPr>
            <a:lvl9pPr marL="131445" lvl="8"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9pPr>
          </a:lstStyle>
          <a:p>
            <a:pPr marL="131445" lvl="0" indent="0" algn="l" rtl="0">
              <a:spcBef>
                <a:spcPts val="0"/>
              </a:spcBef>
              <a:spcAft>
                <a:spcPts val="0"/>
              </a:spcAft>
              <a:buNone/>
            </a:pPr>
            <a:fld id="{00000000-1234-1234-1234-123412341234}" type="slidenum">
              <a:rPr lang="en-US"/>
              <a:pPr marL="131445" lvl="0" indent="0" algn="l" rtl="0">
                <a:spcBef>
                  <a:spcPts val="0"/>
                </a:spcBef>
                <a:spcAft>
                  <a:spcPts val="0"/>
                </a:spcAft>
                <a:buNone/>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2"/>
          <p:cNvPicPr preferRelativeResize="0"/>
          <p:nvPr/>
        </p:nvPicPr>
        <p:blipFill rotWithShape="1">
          <a:blip r:embed="rId7"/>
          <a:srcRect/>
          <a:stretch>
            <a:fillRect/>
          </a:stretch>
        </p:blipFill>
        <p:spPr>
          <a:xfrm>
            <a:off x="0" y="0"/>
            <a:ext cx="9144000" cy="5143500"/>
          </a:xfrm>
          <a:prstGeom prst="rect">
            <a:avLst/>
          </a:prstGeom>
          <a:noFill/>
          <a:ln>
            <a:noFill/>
          </a:ln>
        </p:spPr>
      </p:pic>
      <p:sp>
        <p:nvSpPr>
          <p:cNvPr id="7" name="Google Shape;7;p2"/>
          <p:cNvSpPr txBox="1">
            <a:spLocks noGrp="1"/>
          </p:cNvSpPr>
          <p:nvPr>
            <p:ph type="title"/>
          </p:nvPr>
        </p:nvSpPr>
        <p:spPr>
          <a:xfrm>
            <a:off x="755650" y="28813"/>
            <a:ext cx="7632700" cy="125666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600" b="0" i="0" u="none" strike="noStrike" cap="none">
                <a:solidFill>
                  <a:schemeClr val="dk1"/>
                </a:solidFill>
                <a:latin typeface="Cambria" panose="02040503050406030204"/>
                <a:ea typeface="Cambria" panose="02040503050406030204"/>
                <a:cs typeface="Cambria" panose="02040503050406030204"/>
                <a:sym typeface="Cambria" panose="02040503050406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2"/>
          <p:cNvSpPr txBox="1">
            <a:spLocks noGrp="1"/>
          </p:cNvSpPr>
          <p:nvPr>
            <p:ph type="body" idx="1"/>
          </p:nvPr>
        </p:nvSpPr>
        <p:spPr>
          <a:xfrm>
            <a:off x="561657" y="967422"/>
            <a:ext cx="8076565" cy="338455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
          <p:cNvSpPr txBox="1">
            <a:spLocks noGrp="1"/>
          </p:cNvSpPr>
          <p:nvPr>
            <p:ph type="ftr" idx="11"/>
          </p:nvPr>
        </p:nvSpPr>
        <p:spPr>
          <a:xfrm>
            <a:off x="3388995" y="4738052"/>
            <a:ext cx="2366010" cy="360679"/>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200" b="0" i="0">
                <a:solidFill>
                  <a:srgbClr val="878787"/>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Department of computer Science</a:t>
            </a:r>
          </a:p>
        </p:txBody>
      </p:sp>
      <p:sp>
        <p:nvSpPr>
          <p:cNvPr id="10" name="Google Shape;1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sldNum" idx="12"/>
          </p:nvPr>
        </p:nvSpPr>
        <p:spPr>
          <a:xfrm>
            <a:off x="8365490" y="4799612"/>
            <a:ext cx="278130" cy="208279"/>
          </a:xfrm>
          <a:prstGeom prst="rect">
            <a:avLst/>
          </a:prstGeom>
          <a:noFill/>
          <a:ln>
            <a:noFill/>
          </a:ln>
        </p:spPr>
        <p:txBody>
          <a:bodyPr spcFirstLastPara="1" wrap="square" lIns="0" tIns="0" rIns="0" bIns="0" anchor="t" anchorCtr="0">
            <a:spAutoFit/>
          </a:bodyPr>
          <a:lstStyle>
            <a:lvl1pPr marL="131445" lvl="0"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1pPr>
            <a:lvl2pPr marL="131445" lvl="1"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2pPr>
            <a:lvl3pPr marL="131445" lvl="2"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3pPr>
            <a:lvl4pPr marL="131445" lvl="3"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4pPr>
            <a:lvl5pPr marL="131445" lvl="4"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5pPr>
            <a:lvl6pPr marL="131445" lvl="5"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6pPr>
            <a:lvl7pPr marL="131445" lvl="6"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7pPr>
            <a:lvl8pPr marL="131445" lvl="7"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8pPr>
            <a:lvl9pPr marL="131445" lvl="8" indent="0">
              <a:lnSpc>
                <a:spcPct val="100000"/>
              </a:lnSpc>
              <a:spcBef>
                <a:spcPts val="0"/>
              </a:spcBef>
              <a:buNone/>
              <a:defRPr sz="1200" b="0" i="0">
                <a:solidFill>
                  <a:srgbClr val="878787"/>
                </a:solidFill>
                <a:latin typeface="Cambria" panose="02040503050406030204"/>
                <a:ea typeface="Cambria" panose="02040503050406030204"/>
                <a:cs typeface="Cambria" panose="02040503050406030204"/>
                <a:sym typeface="Cambria" panose="02040503050406030204"/>
              </a:defRPr>
            </a:lvl9pPr>
          </a:lstStyle>
          <a:p>
            <a:pPr marL="131445" lvl="0" indent="0" algn="l" rtl="0">
              <a:spcBef>
                <a:spcPts val="0"/>
              </a:spcBef>
              <a:spcAft>
                <a:spcPts val="0"/>
              </a:spcAft>
              <a:buNone/>
            </a:pPr>
            <a:fld id="{00000000-1234-1234-1234-123412341234}" type="slidenum">
              <a:rPr lang="en-US"/>
              <a:pPr marL="131445" lvl="0" indent="0" algn="l" rtl="0">
                <a:spcBef>
                  <a:spcPts val="0"/>
                </a:spcBef>
                <a:spcAft>
                  <a:spcPts val="0"/>
                </a:spcAft>
                <a:buNone/>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title"/>
          </p:nvPr>
        </p:nvSpPr>
        <p:spPr>
          <a:xfrm>
            <a:off x="505778" y="28813"/>
            <a:ext cx="7882572" cy="875230"/>
          </a:xfrm>
          <a:prstGeom prst="rect">
            <a:avLst/>
          </a:prstGeom>
          <a:noFill/>
          <a:ln>
            <a:noFill/>
          </a:ln>
        </p:spPr>
        <p:txBody>
          <a:bodyPr spcFirstLastPara="1" wrap="square" lIns="0" tIns="13325" rIns="0" bIns="0" anchor="t" anchorCtr="0">
            <a:spAutoFit/>
          </a:bodyPr>
          <a:lstStyle/>
          <a:p>
            <a:pPr algn="ctr"/>
            <a:br>
              <a:rPr lang="en-US" sz="2000" b="1" dirty="0"/>
            </a:br>
            <a:endParaRPr dirty="0">
              <a:latin typeface="Times New Roman" pitchFamily="18" charset="0"/>
              <a:cs typeface="Times New Roman" pitchFamily="18" charset="0"/>
            </a:endParaRPr>
          </a:p>
        </p:txBody>
      </p:sp>
      <p:sp>
        <p:nvSpPr>
          <p:cNvPr id="2" name="Text Placeholder 1">
            <a:extLst>
              <a:ext uri="{FF2B5EF4-FFF2-40B4-BE49-F238E27FC236}">
                <a16:creationId xmlns:a16="http://schemas.microsoft.com/office/drawing/2014/main" id="{E0D7A390-0AEB-1DD0-518D-9F70AC902682}"/>
              </a:ext>
            </a:extLst>
          </p:cNvPr>
          <p:cNvSpPr>
            <a:spLocks noGrp="1"/>
          </p:cNvSpPr>
          <p:nvPr>
            <p:ph type="body" idx="1"/>
          </p:nvPr>
        </p:nvSpPr>
        <p:spPr>
          <a:xfrm>
            <a:off x="533717" y="1915688"/>
            <a:ext cx="8076565" cy="2769989"/>
          </a:xfrm>
        </p:spPr>
        <p:txBody>
          <a:bodyPr/>
          <a:lstStyle/>
          <a:p>
            <a:pPr marL="0" indent="0"/>
            <a:r>
              <a:rPr lang="en-US" dirty="0"/>
              <a:t>Presented By</a:t>
            </a:r>
          </a:p>
          <a:p>
            <a:pPr marL="0" indent="0"/>
            <a:r>
              <a:rPr lang="en-US" dirty="0"/>
              <a:t>	Name of the student                     Roll Number	</a:t>
            </a:r>
          </a:p>
          <a:p>
            <a:pPr marL="342900" indent="-342900">
              <a:buAutoNum type="arabicPeriod"/>
            </a:pPr>
            <a:r>
              <a:rPr lang="en-US" dirty="0"/>
              <a:t> </a:t>
            </a:r>
            <a:r>
              <a:rPr lang="en-US" dirty="0" err="1"/>
              <a:t>P.Ananya</a:t>
            </a:r>
            <a:r>
              <a:rPr lang="en-US" dirty="0"/>
              <a:t>                                            23EG105K02</a:t>
            </a:r>
          </a:p>
          <a:p>
            <a:pPr marL="342900" indent="-342900">
              <a:buAutoNum type="arabicPeriod"/>
            </a:pPr>
            <a:r>
              <a:rPr lang="en-US" dirty="0"/>
              <a:t> </a:t>
            </a:r>
            <a:r>
              <a:rPr lang="en-US" dirty="0" err="1"/>
              <a:t>S.Vinitha</a:t>
            </a:r>
            <a:r>
              <a:rPr lang="en-US" dirty="0"/>
              <a:t>                                             23EG105K08</a:t>
            </a:r>
          </a:p>
          <a:p>
            <a:pPr marL="342900" indent="-342900">
              <a:buAutoNum type="arabicPeriod"/>
            </a:pPr>
            <a:r>
              <a:rPr lang="en-US" dirty="0" err="1"/>
              <a:t>K.Revanth</a:t>
            </a:r>
            <a:r>
              <a:rPr lang="en-US" dirty="0"/>
              <a:t> Kumar                               23EG105K23</a:t>
            </a:r>
          </a:p>
          <a:p>
            <a:pPr marL="342900" indent="-342900">
              <a:buAutoNum type="arabicPeriod"/>
            </a:pPr>
            <a:r>
              <a:rPr lang="en-US" dirty="0" err="1"/>
              <a:t>K.Jaswanth</a:t>
            </a:r>
            <a:r>
              <a:rPr lang="en-US" dirty="0"/>
              <a:t>                                          23EG105K65</a:t>
            </a:r>
          </a:p>
          <a:p>
            <a:pPr marL="0" indent="0"/>
            <a:r>
              <a:rPr lang="en-US" dirty="0"/>
              <a:t>                  </a:t>
            </a:r>
          </a:p>
          <a:p>
            <a:pPr marL="0" indent="0"/>
            <a:endParaRPr lang="en-US" dirty="0"/>
          </a:p>
          <a:p>
            <a:pPr marL="0" indent="0"/>
            <a:r>
              <a:rPr lang="en-US" dirty="0"/>
              <a:t>Guided by: Padmapriya mam</a:t>
            </a:r>
            <a:endParaRPr lang="en-IN" dirty="0"/>
          </a:p>
          <a:p>
            <a:endParaRPr lang="en-IN" dirty="0"/>
          </a:p>
        </p:txBody>
      </p:sp>
      <p:sp>
        <p:nvSpPr>
          <p:cNvPr id="45" name="Google Shape;45;p1"/>
          <p:cNvSpPr txBox="1">
            <a:spLocks noGrp="1"/>
          </p:cNvSpPr>
          <p:nvPr>
            <p:ph type="ftr" idx="11"/>
          </p:nvPr>
        </p:nvSpPr>
        <p:spPr>
          <a:prstGeom prst="rect">
            <a:avLst/>
          </a:prstGeom>
          <a:noFill/>
          <a:ln>
            <a:noFill/>
          </a:ln>
        </p:spPr>
        <p:txBody>
          <a:bodyPr spcFirstLastPara="1" wrap="square" lIns="0" tIns="0" rIns="0" bIns="0" anchor="t" anchorCtr="0">
            <a:spAutoFit/>
          </a:bodyPr>
          <a:lstStyle/>
          <a:p>
            <a:pPr marL="0" lvl="0" indent="0" algn="ctr" rtl="0">
              <a:lnSpc>
                <a:spcPct val="103000"/>
              </a:lnSpc>
              <a:spcBef>
                <a:spcPts val="0"/>
              </a:spcBef>
              <a:spcAft>
                <a:spcPts val="0"/>
              </a:spcAft>
              <a:buNone/>
            </a:pPr>
            <a:r>
              <a:rPr lang="en-US" dirty="0"/>
              <a:t>Department of computer Science</a:t>
            </a:r>
          </a:p>
        </p:txBody>
      </p:sp>
      <p:sp>
        <p:nvSpPr>
          <p:cNvPr id="46" name="Google Shape;46;p1"/>
          <p:cNvSpPr txBox="1">
            <a:spLocks noGrp="1"/>
          </p:cNvSpPr>
          <p:nvPr>
            <p:ph type="sldNum" idx="12"/>
          </p:nvPr>
        </p:nvSpPr>
        <p:spPr>
          <a:prstGeom prst="rect">
            <a:avLst/>
          </a:prstGeom>
          <a:noFill/>
          <a:ln>
            <a:noFill/>
          </a:ln>
        </p:spPr>
        <p:txBody>
          <a:bodyPr spcFirstLastPara="1" wrap="square" lIns="0" tIns="3800" rIns="0" bIns="0" anchor="t" anchorCtr="0">
            <a:spAutoFit/>
          </a:bodyPr>
          <a:lstStyle/>
          <a:p>
            <a:pPr marL="131445" lvl="0" indent="0" algn="l" rtl="0">
              <a:lnSpc>
                <a:spcPct val="100000"/>
              </a:lnSpc>
              <a:spcBef>
                <a:spcPts val="0"/>
              </a:spcBef>
              <a:spcAft>
                <a:spcPts val="0"/>
              </a:spcAft>
              <a:buNone/>
            </a:pPr>
            <a:fld id="{00000000-1234-1234-1234-123412341234}" type="slidenum">
              <a:rPr lang="en-US">
                <a:solidFill>
                  <a:schemeClr val="bg1"/>
                </a:solidFill>
                <a:latin typeface="Cambria" panose="02040503050406030204"/>
                <a:ea typeface="Cambria" panose="02040503050406030204"/>
                <a:cs typeface="Cambria" panose="02040503050406030204"/>
                <a:sym typeface="Cambria" panose="02040503050406030204"/>
              </a:rPr>
              <a:pPr marL="131445" lvl="0" indent="0" algn="l" rtl="0">
                <a:lnSpc>
                  <a:spcPct val="100000"/>
                </a:lnSpc>
                <a:spcBef>
                  <a:spcPts val="0"/>
                </a:spcBef>
                <a:spcAft>
                  <a:spcPts val="0"/>
                </a:spcAft>
                <a:buNone/>
              </a:pPr>
              <a:t>1</a:t>
            </a:fld>
            <a:endParaRPr>
              <a:solidFill>
                <a:schemeClr val="bg1"/>
              </a:solidFill>
              <a:latin typeface="Cambria" panose="02040503050406030204"/>
              <a:ea typeface="Cambria" panose="02040503050406030204"/>
              <a:cs typeface="Cambria" panose="02040503050406030204"/>
              <a:sym typeface="Cambria" panose="02040503050406030204"/>
            </a:endParaRPr>
          </a:p>
        </p:txBody>
      </p:sp>
      <p:sp>
        <p:nvSpPr>
          <p:cNvPr id="3" name="TextBox 2">
            <a:extLst>
              <a:ext uri="{FF2B5EF4-FFF2-40B4-BE49-F238E27FC236}">
                <a16:creationId xmlns:a16="http://schemas.microsoft.com/office/drawing/2014/main" id="{432DAA8C-5438-753C-3758-BA226A5FBAF3}"/>
              </a:ext>
            </a:extLst>
          </p:cNvPr>
          <p:cNvSpPr txBox="1"/>
          <p:nvPr/>
        </p:nvSpPr>
        <p:spPr>
          <a:xfrm>
            <a:off x="727444" y="724535"/>
            <a:ext cx="7689110" cy="1077218"/>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Dark Ship-to-Ship Transfer Detection Using SAR Imagery and AIS Verification</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0303" y="698056"/>
            <a:ext cx="7772400" cy="614457"/>
          </a:xfrm>
        </p:spPr>
        <p:txBody>
          <a:bodyPr/>
          <a:lstStyle/>
          <a:p>
            <a:pPr algn="ctr"/>
            <a:r>
              <a:rPr lang="en-US" dirty="0">
                <a:latin typeface="Times New Roman" pitchFamily="18" charset="0"/>
                <a:cs typeface="Times New Roman" pitchFamily="18" charset="0"/>
              </a:rPr>
              <a:t>ABSTRACT</a:t>
            </a:r>
            <a:endParaRPr lang="en-US" dirty="0"/>
          </a:p>
        </p:txBody>
      </p:sp>
      <p:sp>
        <p:nvSpPr>
          <p:cNvPr id="3" name="Subtitle 2"/>
          <p:cNvSpPr>
            <a:spLocks noGrp="1"/>
          </p:cNvSpPr>
          <p:nvPr>
            <p:ph type="subTitle" idx="1"/>
          </p:nvPr>
        </p:nvSpPr>
        <p:spPr>
          <a:xfrm>
            <a:off x="440303" y="1471559"/>
            <a:ext cx="7999730" cy="3200000"/>
          </a:xfrm>
        </p:spPr>
        <p:txBody>
          <a:bodyPr/>
          <a:lstStyle/>
          <a:p>
            <a:pPr algn="just"/>
            <a:r>
              <a:rPr lang="en-US" sz="1600" dirty="0"/>
              <a:t>Illegal maritime activities such as sanctions evasion and unregulated cargo smuggling often occur through covert ship-to-ship (STS) transfers, where vessels intentionally disable AIS tracking to avoid detection. Existing approaches rely on AIS alone or costly commercial optical imagery, making them incomplete or inaccessible. This project presents a cost-free system using Sentinel-1 SAR imagery, which sees through cloud cover and darkness. Training labels are generated automatically by matching open AIS data to Sentinel-1 scenes at the exact acquisition time, and a YOLOv8 model detects both vessels and STS transfers directly as a separate detection class. STS detections with fewer than two matching AIS identities are flagged dark and assigned a suspicion score, then cross-checked against Global Fishing Watch's independent global layers, allowing the same trained model to be validated at chokepoints worldwide.</a:t>
            </a:r>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a:xfrm>
            <a:off x="8365490" y="4799612"/>
            <a:ext cx="278130" cy="184666"/>
          </a:xfrm>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2</a:t>
            </a:fld>
            <a:endParaRPr 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0303" y="698056"/>
            <a:ext cx="7772400" cy="614457"/>
          </a:xfrm>
        </p:spPr>
        <p:txBody>
          <a:bodyPr/>
          <a:lstStyle/>
          <a:p>
            <a:pPr algn="ctr"/>
            <a:r>
              <a:rPr lang="en-US" dirty="0">
                <a:latin typeface="Times New Roman" pitchFamily="18" charset="0"/>
                <a:cs typeface="Times New Roman" pitchFamily="18" charset="0"/>
              </a:rPr>
              <a:t>PROBLEM STATEMENT</a:t>
            </a:r>
            <a:endParaRPr lang="en-US" dirty="0"/>
          </a:p>
        </p:txBody>
      </p:sp>
      <p:sp>
        <p:nvSpPr>
          <p:cNvPr id="3" name="Subtitle 2"/>
          <p:cNvSpPr>
            <a:spLocks noGrp="1"/>
          </p:cNvSpPr>
          <p:nvPr>
            <p:ph type="subTitle" idx="1"/>
          </p:nvPr>
        </p:nvSpPr>
        <p:spPr>
          <a:xfrm>
            <a:off x="440303" y="1471559"/>
            <a:ext cx="7999730" cy="3200000"/>
          </a:xfrm>
        </p:spPr>
        <p:txBody>
          <a:bodyPr/>
          <a:lstStyle/>
          <a:p>
            <a:pPr algn="just"/>
            <a:r>
              <a:rPr lang="en-US" sz="1600" dirty="0"/>
              <a:t>Ships engaged in illegal activities such as sanctions evasion, oil smuggling, and unauthorized cargo transfers frequently switch off their AIS transponders to avoid being tracked. Current maritime surveillance systems either depend solely on AIS data, which is easily disabled by the very vessels attempting to hide, or on commercial satellite imagery services such as PlanetScope, which are expensive and inaccessible to independent researchers and smaller maritime authorities. There is currently no freely available, end-to-end system that can detect vessels directly from satellite imagery, cross-check them against tracking data, and flag suspicious dark ship-to-ship transfers without relying on paid data sources.</a:t>
            </a:r>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a:xfrm>
            <a:off x="8365490" y="4799612"/>
            <a:ext cx="278130" cy="184666"/>
          </a:xfrm>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3</a:t>
            </a:fld>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0303" y="698056"/>
            <a:ext cx="7772400" cy="614457"/>
          </a:xfrm>
        </p:spPr>
        <p:txBody>
          <a:bodyPr/>
          <a:lstStyle/>
          <a:p>
            <a:pPr algn="ctr"/>
            <a:r>
              <a:rPr lang="en-US" dirty="0">
                <a:latin typeface="Times New Roman" pitchFamily="18" charset="0"/>
                <a:cs typeface="Times New Roman" pitchFamily="18" charset="0"/>
              </a:rPr>
              <a:t>EXISTING SYSTEM</a:t>
            </a:r>
            <a:endParaRPr lang="en-US" dirty="0"/>
          </a:p>
        </p:txBody>
      </p:sp>
      <p:sp>
        <p:nvSpPr>
          <p:cNvPr id="3" name="Subtitle 2"/>
          <p:cNvSpPr>
            <a:spLocks noGrp="1"/>
          </p:cNvSpPr>
          <p:nvPr>
            <p:ph type="subTitle" idx="1"/>
          </p:nvPr>
        </p:nvSpPr>
        <p:spPr>
          <a:xfrm>
            <a:off x="440303" y="1471559"/>
            <a:ext cx="7999730" cy="3200000"/>
          </a:xfrm>
        </p:spPr>
        <p:txBody>
          <a:bodyPr/>
          <a:lstStyle/>
          <a:p>
            <a:pPr algn="just"/>
            <a:r>
              <a:rPr lang="en-US" sz="1600" dirty="0"/>
              <a:t>Existing maritime monitoring relies primarily on AIS (Automatic Identification System) tracking, which vessels can legally and easily disable at will. Commercial satellite-based monitoring solutions, such as the PlanetScope-based approach used in prior research, can detect dark ship-to-ship transfers but require paid optical imagery subscriptions. Public benchmark datasets such as xView3-SAR focus specifically on illegal fishing activity rather than general dark-vessel or smuggling detection. As a result, no freely accessible system currently exists that can independently confirm whether a vessel is deliberately avoiding tracking, using only open data sources.</a:t>
            </a:r>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a:xfrm>
            <a:off x="8365490" y="4799612"/>
            <a:ext cx="278130" cy="184666"/>
          </a:xfrm>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4</a:t>
            </a:fld>
            <a:endParaRPr lang="en-US"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0303" y="698056"/>
            <a:ext cx="7772400" cy="614457"/>
          </a:xfrm>
        </p:spPr>
        <p:txBody>
          <a:bodyPr/>
          <a:lstStyle/>
          <a:p>
            <a:pPr algn="ctr"/>
            <a:r>
              <a:rPr lang="en-US" dirty="0">
                <a:latin typeface="Times New Roman" pitchFamily="18" charset="0"/>
                <a:cs typeface="Times New Roman" pitchFamily="18" charset="0"/>
              </a:rPr>
              <a:t>LITERATURE SURVEY</a:t>
            </a:r>
            <a:endParaRPr lang="en-US" dirty="0"/>
          </a:p>
        </p:txBody>
      </p:sp>
      <p:sp>
        <p:nvSpPr>
          <p:cNvPr id="3" name="Subtitle 2"/>
          <p:cNvSpPr>
            <a:spLocks noGrp="1"/>
          </p:cNvSpPr>
          <p:nvPr>
            <p:ph type="subTitle" idx="1"/>
          </p:nvPr>
        </p:nvSpPr>
        <p:spPr>
          <a:xfrm>
            <a:off x="440303" y="1471559"/>
            <a:ext cx="7999730" cy="3200000"/>
          </a:xfrm>
        </p:spPr>
        <p:txBody>
          <a:bodyPr/>
          <a:lstStyle/>
          <a:p>
            <a:pPr marL="342900" indent="-342900">
              <a:buFont typeface="Arial" pitchFamily="34" charset="0"/>
              <a:buAutoNum type="arabicPeriod"/>
            </a:pPr>
            <a:r>
              <a:rPr lang="en-US" sz="1300" b="1" dirty="0"/>
              <a:t>Automatic Detection of Dark Ship-to-Ship Transfers Using Deep Learning and Satellite Imagery — 2024 — Base Paper</a:t>
            </a:r>
          </a:p>
          <a:p>
            <a:pPr marL="342900" indent="0"/>
            <a:r>
              <a:rPr lang="en-US" sz="1200" i="1" dirty="0"/>
              <a:t>Detects dark STS transfers using AIS and PlanetScope optical satellite imagery in the Kerch Strait.</a:t>
            </a:r>
          </a:p>
          <a:p>
            <a:pPr marL="342900" indent="-342900">
              <a:buFont typeface="Arial" pitchFamily="34" charset="0"/>
              <a:buAutoNum type="arabicPeriod"/>
            </a:pPr>
            <a:r>
              <a:rPr lang="en-US" sz="1300" b="1" dirty="0"/>
              <a:t>xView3-SAR: Detecting Dark Fishing Activity Using Synthetic Aperture Radar Imagery — 2022</a:t>
            </a:r>
          </a:p>
          <a:p>
            <a:pPr marL="342900" indent="0"/>
            <a:r>
              <a:rPr lang="en-US" sz="1200" i="1" dirty="0"/>
              <a:t>Introduced the open xView3-SAR benchmark dataset for dark-vessel detection in SAR; informs our task framing though our own labels are auto-generated from AIS.</a:t>
            </a:r>
          </a:p>
          <a:p>
            <a:pPr marL="342900" indent="-342900">
              <a:buFont typeface="Arial" pitchFamily="34" charset="0"/>
              <a:buAutoNum type="arabicPeriod"/>
            </a:pPr>
            <a:r>
              <a:rPr lang="en-US" sz="1300" b="1" dirty="0"/>
              <a:t>FAD-SAR: A Novel Fishing Activity Detection System via SAR Images Based on Deep Learning — 2024</a:t>
            </a:r>
          </a:p>
          <a:p>
            <a:pPr marL="342900" indent="0"/>
            <a:r>
              <a:rPr lang="en-US" sz="1200" i="1" dirty="0"/>
              <a:t>Benchmarks multiple deep learning object detectors for vessel detection in SAR imagery.</a:t>
            </a:r>
          </a:p>
          <a:p>
            <a:pPr marL="342900" indent="-342900">
              <a:buFont typeface="Arial" pitchFamily="34" charset="0"/>
              <a:buAutoNum type="arabicPeriod"/>
            </a:pPr>
            <a:r>
              <a:rPr lang="en-US" sz="1300" b="1" dirty="0"/>
              <a:t>Detecting Intentional AIS Shutdown in Open Sea Maritime Surveillance Using Self-Supervised Deep Learning — 2023</a:t>
            </a:r>
          </a:p>
          <a:p>
            <a:pPr marL="342900" indent="0"/>
            <a:r>
              <a:rPr lang="en-US" sz="1200" i="1" dirty="0"/>
              <a:t>Uses AIS trajectory patterns alone, via self-supervised learning, to detect deliberate tracking shutdowns.</a:t>
            </a:r>
          </a:p>
          <a:p>
            <a:pPr marL="342900" indent="-342900">
              <a:buFont typeface="Arial" pitchFamily="34" charset="0"/>
              <a:buAutoNum type="arabicPeriod"/>
            </a:pPr>
            <a:r>
              <a:rPr lang="en-US" sz="1300" b="1" dirty="0"/>
              <a:t>Paolo et al., Satellite Mapping Reveals Extensive Industrial Activity at Sea, Nature — 2024</a:t>
            </a:r>
          </a:p>
          <a:p>
            <a:pPr marL="342900" indent="0"/>
            <a:r>
              <a:rPr lang="en-US" sz="1200" i="1" dirty="0"/>
              <a:t>Global Sentinel-1 SAR vessel detection powering Global Fishing Watch's SAR presence layer, used here as an independent comparison layer, not ground truth.</a:t>
            </a:r>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a:xfrm>
            <a:off x="8365490" y="4799612"/>
            <a:ext cx="278130" cy="184666"/>
          </a:xfrm>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5</a:t>
            </a:fld>
            <a:endParaRPr lang="en-US"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0303" y="698056"/>
            <a:ext cx="7772400" cy="614457"/>
          </a:xfrm>
        </p:spPr>
        <p:txBody>
          <a:bodyPr/>
          <a:lstStyle/>
          <a:p>
            <a:pPr algn="ctr"/>
            <a:r>
              <a:rPr lang="en-US" dirty="0">
                <a:latin typeface="Times New Roman" pitchFamily="18" charset="0"/>
                <a:cs typeface="Times New Roman" pitchFamily="18" charset="0"/>
              </a:rPr>
              <a:t>PROPOSED SYSTEM</a:t>
            </a:r>
            <a:endParaRPr lang="en-US" dirty="0"/>
          </a:p>
        </p:txBody>
      </p:sp>
      <p:sp>
        <p:nvSpPr>
          <p:cNvPr id="3" name="Subtitle 2"/>
          <p:cNvSpPr>
            <a:spLocks noGrp="1"/>
          </p:cNvSpPr>
          <p:nvPr>
            <p:ph type="subTitle" idx="1"/>
          </p:nvPr>
        </p:nvSpPr>
        <p:spPr>
          <a:xfrm>
            <a:off x="440303" y="1471559"/>
            <a:ext cx="7999730" cy="3200000"/>
          </a:xfrm>
        </p:spPr>
        <p:txBody>
          <a:bodyPr/>
          <a:lstStyle/>
          <a:p>
            <a:pPr algn="just"/>
            <a:r>
              <a:rPr lang="en-US" sz="1600" dirty="0"/>
              <a:t>The proposed system detects dark ship-to-ship transfers using entirely free data sources. Sentinel-1 SAR imagery is fetched pre-calibrated and tiled. Training labels are generated automatically by matching Danish AIS positions to each tile at the exact overpass time, removing the need for manual labeling. A YOLOv8 model outputs two classes, vessel and sts, since transfers are detected directly as a box around rafted vessels rather than inferred from proximity. False-positive filtering removes SAR artifacts before scoring. Each STS detection is buffered 500m and checked against AIS within ±12 hours; fewer than two matching identities flags it dark, scored by dark duration, sanctioned-zone proximity, and lane deviation. Vessel type comes from Global Fishing Watch's registry for matched detections, and a size estimate for dark ones. Results are cross-checked against GFW's global SAR, gap, and encounter layers and shown on a dashboard; since these layers need no regional AIS, the same model validates at any chokepoint worldwide.</a:t>
            </a:r>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a:xfrm>
            <a:off x="8365490" y="4799612"/>
            <a:ext cx="278130" cy="184666"/>
          </a:xfrm>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6</a:t>
            </a:fld>
            <a:endParaRPr lang="en-US"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0303" y="698056"/>
            <a:ext cx="7772400" cy="614457"/>
          </a:xfrm>
        </p:spPr>
        <p:txBody>
          <a:bodyPr/>
          <a:lstStyle/>
          <a:p>
            <a:pPr algn="ctr"/>
            <a:r>
              <a:rPr lang="en-US" dirty="0"/>
              <a:t>ADVANTAGES</a:t>
            </a:r>
          </a:p>
        </p:txBody>
      </p:sp>
      <p:sp>
        <p:nvSpPr>
          <p:cNvPr id="3" name="Subtitle 2"/>
          <p:cNvSpPr>
            <a:spLocks noGrp="1"/>
          </p:cNvSpPr>
          <p:nvPr>
            <p:ph type="subTitle" idx="1"/>
          </p:nvPr>
        </p:nvSpPr>
        <p:spPr>
          <a:xfrm>
            <a:off x="440303" y="1471559"/>
            <a:ext cx="7999730" cy="3200000"/>
          </a:xfrm>
        </p:spPr>
        <p:txBody>
          <a:bodyPr/>
          <a:lstStyle/>
          <a:p>
            <a:pPr marL="514350" indent="-285750">
              <a:buFont typeface="Arial" panose="020B0604020202020204" pitchFamily="34" charset="0"/>
              <a:buChar char="•"/>
            </a:pPr>
            <a:r>
              <a:rPr lang="en-US" sz="1600" dirty="0"/>
              <a:t>Relies entirely on free, open data sources (Sentinel-1 SAR and open AIS records), removing the high cost of commercial imagery.</a:t>
            </a:r>
          </a:p>
          <a:p>
            <a:pPr marL="514350" indent="-285750">
              <a:buFont typeface="Arial" panose="020B0604020202020204" pitchFamily="34" charset="0"/>
              <a:buChar char="•"/>
            </a:pPr>
            <a:r>
              <a:rPr lang="en-US" sz="1600" dirty="0"/>
              <a:t>SAR imagery enables all-weather, day-and-night vessel detection, unlike optical imagery limited by cloud cover and daylight.</a:t>
            </a:r>
          </a:p>
          <a:p>
            <a:pPr marL="514350" indent="-285750">
              <a:buFont typeface="Arial" panose="020B0604020202020204" pitchFamily="34" charset="0"/>
              <a:buChar char="•"/>
            </a:pPr>
            <a:r>
              <a:rPr lang="en-US" sz="1600" dirty="0"/>
              <a:t>Cross-referencing detected vessels with AIS records reveals ships that intentionally disable tracking to evade sanctions.</a:t>
            </a:r>
          </a:p>
          <a:p>
            <a:pPr marL="514350" indent="-285750">
              <a:buFont typeface="Arial" panose="020B0604020202020204" pitchFamily="34" charset="0"/>
              <a:buChar char="•"/>
            </a:pPr>
            <a:r>
              <a:rPr lang="en-US" sz="1600" dirty="0"/>
              <a:t>Training labels are generated automatically from AIS-to-SAR matching, avoiding costly manual annotation; the lightweight YOLOv8 model offers fast, low-compute detection.</a:t>
            </a:r>
          </a:p>
          <a:p>
            <a:pPr marL="514350" indent="-285750">
              <a:buFont typeface="Arial" panose="020B0604020202020204" pitchFamily="34" charset="0"/>
              <a:buChar char="•"/>
            </a:pPr>
            <a:r>
              <a:rPr lang="en-US" sz="1600" dirty="0"/>
              <a:t>Suspicion scoring based on dark duration, proximity to sanctioned zones, and shipping-lane deviation helps prioritize the most likely illicit events.</a:t>
            </a:r>
          </a:p>
          <a:p>
            <a:pPr marL="514350" indent="-285750">
              <a:buFont typeface="Arial" panose="020B0604020202020204" pitchFamily="34" charset="0"/>
              <a:buChar char="•"/>
            </a:pPr>
            <a:r>
              <a:rPr lang="en-US" sz="1600" dirty="0"/>
              <a:t>An interactive map dashboard supports continuous, scalable monitoring for maritime authorities.</a:t>
            </a:r>
          </a:p>
          <a:p>
            <a:pPr marL="514350" indent="-285750">
              <a:buFont typeface="Arial" panose="020B0604020202020204" pitchFamily="34" charset="0"/>
              <a:buChar char="•"/>
            </a:pPr>
            <a:r>
              <a:rPr lang="en-US" sz="1600" dirty="0"/>
              <a:t>SAR-artifact filtering and GFW cross-checks cut false positives and let the model validate at any chokepoint.</a:t>
            </a:r>
          </a:p>
        </p:txBody>
      </p:sp>
      <p:sp>
        <p:nvSpPr>
          <p:cNvPr id="4" name="Footer Placeholder 3"/>
          <p:cNvSpPr>
            <a:spLocks noGrp="1"/>
          </p:cNvSpPr>
          <p:nvPr>
            <p:ph type="ftr" idx="11"/>
          </p:nvPr>
        </p:nvSpPr>
        <p:spPr/>
        <p:txBody>
          <a:bodyPr/>
          <a:lstStyle/>
          <a:p>
            <a:r>
              <a:rPr lang="en-US"/>
              <a:t>Department of computer Science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0303" y="698056"/>
            <a:ext cx="7772400" cy="614457"/>
          </a:xfrm>
        </p:spPr>
        <p:txBody>
          <a:bodyPr/>
          <a:lstStyle/>
          <a:p>
            <a:pPr algn="ctr"/>
            <a:r>
              <a:rPr lang="en-US" dirty="0"/>
              <a:t>DISADVANTAGES</a:t>
            </a:r>
          </a:p>
        </p:txBody>
      </p:sp>
      <p:sp>
        <p:nvSpPr>
          <p:cNvPr id="3" name="Subtitle 2"/>
          <p:cNvSpPr>
            <a:spLocks noGrp="1"/>
          </p:cNvSpPr>
          <p:nvPr>
            <p:ph type="subTitle" idx="1"/>
          </p:nvPr>
        </p:nvSpPr>
        <p:spPr>
          <a:xfrm>
            <a:off x="440303" y="1471559"/>
            <a:ext cx="7999730" cy="3200000"/>
          </a:xfrm>
        </p:spPr>
        <p:txBody>
          <a:bodyPr/>
          <a:lstStyle/>
          <a:p>
            <a:pPr marL="514350" indent="-285750">
              <a:buFont typeface="Arial" panose="020B0604020202020204" pitchFamily="34" charset="0"/>
              <a:buChar char="•"/>
            </a:pPr>
            <a:r>
              <a:rPr lang="en-US" sz="1600" dirty="0"/>
              <a:t>SAR imagery has coarser spatial resolution than optical imagery, making it harder to precisely resolve individual vessels in close-proximity STS events.</a:t>
            </a:r>
          </a:p>
          <a:p>
            <a:pPr marL="514350" indent="-285750">
              <a:buFont typeface="Arial" panose="020B0604020202020204" pitchFamily="34" charset="0"/>
              <a:buChar char="•"/>
            </a:pPr>
            <a:r>
              <a:rPr lang="en-US" sz="1600" dirty="0"/>
              <a:t>Speckle noise inherent to SAR requires extensive preprocessing, which can introduce artifacts or delay detection.</a:t>
            </a:r>
          </a:p>
          <a:p>
            <a:pPr marL="514350" indent="-285750">
              <a:buFont typeface="Arial" panose="020B0604020202020204" pitchFamily="34" charset="0"/>
              <a:buChar char="•"/>
            </a:pPr>
            <a:r>
              <a:rPr lang="en-US" sz="1600" dirty="0"/>
              <a:t>Sentinel-1's revisit rate is lower than commercial providers, reducing temporal coverage and risking missed transfer events.</a:t>
            </a:r>
          </a:p>
          <a:p>
            <a:pPr marL="514350" indent="-285750">
              <a:buFont typeface="Arial" panose="020B0604020202020204" pitchFamily="34" charset="0"/>
              <a:buChar char="•"/>
            </a:pPr>
            <a:r>
              <a:rPr lang="en-US" sz="1600" dirty="0"/>
              <a:t>Gaps or delays in open AIS data can cause false positives, misclassifying legitimate vessels as dark.</a:t>
            </a:r>
          </a:p>
          <a:p>
            <a:pPr marL="514350" indent="-285750">
              <a:buFont typeface="Arial" panose="020B0604020202020204" pitchFamily="34" charset="0"/>
              <a:buChar char="•"/>
            </a:pPr>
            <a:r>
              <a:rPr lang="en-US" sz="1600" dirty="0"/>
              <a:t>Detection accuracy depends heavily on precise AIS-to-SAR time alignment during label generation. At 10m resolution, vessel type cannot be reliably classified from the image alone, so type is only known for AIS-matched vessels; dark vessels get a size estimate, not a confirmed type.</a:t>
            </a:r>
          </a:p>
          <a:p>
            <a:pPr marL="514350" indent="-285750">
              <a:buFont typeface="Arial" panose="020B0604020202020204" pitchFamily="34" charset="0"/>
              <a:buChar char="•"/>
            </a:pPr>
            <a:r>
              <a:rPr lang="en-US" sz="1600" dirty="0"/>
              <a:t>Suspicion-score thresholds need careful calibration; poor tuning can raise false alarms or miss genuine illicit transfers.</a:t>
            </a:r>
          </a:p>
        </p:txBody>
      </p:sp>
      <p:sp>
        <p:nvSpPr>
          <p:cNvPr id="4" name="Footer Placeholder 3"/>
          <p:cNvSpPr>
            <a:spLocks noGrp="1"/>
          </p:cNvSpPr>
          <p:nvPr>
            <p:ph type="ftr" idx="11"/>
          </p:nvPr>
        </p:nvSpPr>
        <p:spPr/>
        <p:txBody>
          <a:bodyPr/>
          <a:lstStyle/>
          <a:p>
            <a:r>
              <a:rPr lang="en-US"/>
              <a:t>Department of computer Science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2155" y="967912"/>
            <a:ext cx="7772400" cy="1107996"/>
          </a:xfrm>
        </p:spPr>
        <p:txBody>
          <a:bodyPr/>
          <a:lstStyle/>
          <a:p>
            <a:r>
              <a:rPr lang="en-US" b="1" dirty="0">
                <a:latin typeface="Times New Roman" pitchFamily="18" charset="0"/>
                <a:cs typeface="Times New Roman" pitchFamily="18" charset="0"/>
              </a:rPr>
              <a:t>INTRODUCTION (DESIGN)</a:t>
            </a:r>
            <a:br>
              <a:rPr lang="en-US" b="1" dirty="0">
                <a:latin typeface="Times New Roman" pitchFamily="18" charset="0"/>
                <a:cs typeface="Times New Roman" pitchFamily="18" charset="0"/>
              </a:rPr>
            </a:br>
            <a:endParaRPr lang="en-US" dirty="0"/>
          </a:p>
        </p:txBody>
      </p:sp>
      <p:sp>
        <p:nvSpPr>
          <p:cNvPr id="3" name="Subtitle 2"/>
          <p:cNvSpPr>
            <a:spLocks noGrp="1"/>
          </p:cNvSpPr>
          <p:nvPr>
            <p:ph type="subTitle" idx="1"/>
          </p:nvPr>
        </p:nvSpPr>
        <p:spPr>
          <a:xfrm>
            <a:off x="250615" y="1992762"/>
            <a:ext cx="7999730" cy="1261884"/>
          </a:xfrm>
        </p:spPr>
        <p:txBody>
          <a:bodyPr/>
          <a:lstStyle/>
          <a:p>
            <a:pPr algn="just"/>
            <a:r>
              <a:rPr lang="en-IN" dirty="0"/>
              <a:t>    </a:t>
            </a:r>
            <a:r>
              <a:rPr lang="en-IN" sz="1600" dirty="0"/>
              <a:t>This presentation covers the design phase of our Dark Ship-to-Ship Transfer Detection System. In this phase, we designed the overall system architecture, workflow, and UML diagrams to define the structure and communication between the data acquisition, preprocessing, detection, verification, and dashboard modules. The design acts as a blueprint for developing the complete pipeline in the implementation phase.</a:t>
            </a:r>
            <a:endParaRPr lang="en-US" sz="1600" dirty="0"/>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a:xfrm>
            <a:off x="8365490" y="4799612"/>
            <a:ext cx="278130" cy="184666"/>
          </a:xfrm>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9</a:t>
            </a:fld>
            <a:endParaRPr lang="en-US"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918" y="726466"/>
            <a:ext cx="7882572" cy="1107996"/>
          </a:xfrm>
        </p:spPr>
        <p:txBody>
          <a:bodyPr/>
          <a:lstStyle/>
          <a:p>
            <a:pPr algn="ctr"/>
            <a:br>
              <a:rPr lang="en-US" b="1" dirty="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3" name="Subtitle 2"/>
          <p:cNvSpPr>
            <a:spLocks noGrp="1"/>
          </p:cNvSpPr>
          <p:nvPr>
            <p:ph type="body" idx="1"/>
          </p:nvPr>
        </p:nvSpPr>
        <p:spPr>
          <a:xfrm>
            <a:off x="561657" y="1212850"/>
            <a:ext cx="8076565" cy="3448050"/>
          </a:xfrm>
        </p:spPr>
        <p:txBody>
          <a:bodyPr/>
          <a:lstStyle/>
          <a:p>
            <a:pPr marL="228600" indent="0" algn="just"/>
            <a:endParaRPr lang="en-US" sz="2000" dirty="0">
              <a:latin typeface="Times New Roman" pitchFamily="18" charset="0"/>
              <a:cs typeface="Times New Roman" pitchFamily="18" charset="0"/>
            </a:endParaRPr>
          </a:p>
          <a:p>
            <a:pPr algn="just" fontAlgn="base">
              <a:buFont typeface="Arial" pitchFamily="34" charset="0"/>
              <a:buChar char="•"/>
            </a:pPr>
            <a:endParaRPr lang="en-US" sz="2000" dirty="0">
              <a:latin typeface="Times New Roman" pitchFamily="18" charset="0"/>
              <a:cs typeface="Times New Roman" pitchFamily="18" charset="0"/>
            </a:endParaRPr>
          </a:p>
          <a:p>
            <a:endParaRPr lang="en-US" dirty="0"/>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10</a:t>
            </a:fld>
            <a:endParaRPr lang="en-US" dirty="0">
              <a:solidFill>
                <a:schemeClr val="bg1"/>
              </a:solidFill>
            </a:endParaRPr>
          </a:p>
        </p:txBody>
      </p:sp>
      <p:sp>
        <p:nvSpPr>
          <p:cNvPr id="6" name="TextBox 5">
            <a:extLst>
              <a:ext uri="{FF2B5EF4-FFF2-40B4-BE49-F238E27FC236}">
                <a16:creationId xmlns:a16="http://schemas.microsoft.com/office/drawing/2014/main" id="{1FB7079F-EE8E-F1CB-0CA8-E688FFB60FFE}"/>
              </a:ext>
            </a:extLst>
          </p:cNvPr>
          <p:cNvSpPr txBox="1"/>
          <p:nvPr/>
        </p:nvSpPr>
        <p:spPr>
          <a:xfrm>
            <a:off x="1510586" y="504889"/>
            <a:ext cx="5827236" cy="646331"/>
          </a:xfrm>
          <a:prstGeom prst="rect">
            <a:avLst/>
          </a:prstGeom>
          <a:noFill/>
        </p:spPr>
        <p:txBody>
          <a:bodyPr wrap="none" rtlCol="0">
            <a:spAutoFit/>
          </a:bodyPr>
          <a:lstStyle/>
          <a:p>
            <a:pPr algn="ctr"/>
            <a:r>
              <a:rPr lang="en-US" sz="3600" dirty="0"/>
              <a:t>SYSTEM ARCHITECTURE</a:t>
            </a:r>
            <a:endParaRPr lang="en-IN" sz="3600" dirty="0"/>
          </a:p>
        </p:txBody>
      </p:sp>
      <p:pic>
        <p:nvPicPr>
          <p:cNvPr id="99" name="Diagram Image"/>
          <p:cNvPicPr>
            <a:picLocks noChangeAspect="1"/>
          </p:cNvPicPr>
          <p:nvPr/>
        </p:nvPicPr>
        <p:blipFill>
          <a:blip r:embed="rId2"/>
          <a:stretch>
            <a:fillRect/>
          </a:stretch>
        </p:blipFill>
        <p:spPr>
          <a:xfrm>
            <a:off x="3098259" y="1189796"/>
            <a:ext cx="2947481" cy="33551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E2A7D5E-6273-4C05-027D-D6DD5A4AFCEA}"/>
              </a:ext>
            </a:extLst>
          </p:cNvPr>
          <p:cNvSpPr>
            <a:spLocks noGrp="1"/>
          </p:cNvSpPr>
          <p:nvPr>
            <p:ph type="subTitle" idx="1"/>
          </p:nvPr>
        </p:nvSpPr>
        <p:spPr>
          <a:xfrm>
            <a:off x="704427" y="881694"/>
            <a:ext cx="7735146" cy="3649665"/>
          </a:xfrm>
        </p:spPr>
        <p:txBody>
          <a:bodyPr/>
          <a:lstStyle/>
          <a:p>
            <a:r>
              <a:rPr lang="en-US" sz="1600" dirty="0"/>
              <a:t>     The System Architecture shows the overall design of the Dark Ship-to-Ship Transfer Detection System. It is a layered pipeline where satellite and tracking data are acquired, processed by AI models, cross-verified, and presented on a dashboard.</a:t>
            </a:r>
          </a:p>
          <a:p>
            <a:endParaRPr lang="en-US" sz="1600" dirty="0"/>
          </a:p>
          <a:p>
            <a:pPr marL="571500" indent="-342900">
              <a:buAutoNum type="arabicPeriod"/>
            </a:pPr>
            <a:r>
              <a:rPr lang="en-US" sz="1600" dirty="0"/>
              <a:t>Data Acquisition Layer: Downloads Sentinel-1 SAR imagery from the Copernicus Data Space Ecosystem and raw AIS data from the Danish Maritime Authority (for training); Global Fishing Watch's global layers are queried separately for cross-validation.</a:t>
            </a:r>
          </a:p>
          <a:p>
            <a:pPr marL="571500" indent="-342900">
              <a:buAutoNum type="arabicPeriod"/>
            </a:pPr>
            <a:r>
              <a:rPr lang="en-US" sz="1600" dirty="0"/>
              <a:t>Preprocessing Layer: Fetches already calibrated, terrain-corrected SAR imagery via the Copernicus Sentinel Hub Process API, then splits it into tiles.</a:t>
            </a:r>
          </a:p>
          <a:p>
            <a:pPr marL="571500" indent="-342900">
              <a:buAutoNum type="arabicPeriod"/>
            </a:pPr>
            <a:r>
              <a:rPr lang="en-US" sz="1600" dirty="0"/>
              <a:t>AI/ML Layer: A YOLOv8 model, trained on automatically AIS-derived labels, detects vessels and STS events in SAR tiles; a filtering module removes SAR artifacts, and a cross-verification module compares STS detections against AIS records (and GFW's global layers) to flag dark events.</a:t>
            </a:r>
          </a:p>
          <a:p>
            <a:pPr marL="571500" indent="-342900">
              <a:buAutoNum type="arabicPeriod"/>
            </a:pPr>
            <a:r>
              <a:rPr lang="en-US" sz="1600" dirty="0"/>
              <a:t>Application Layer: A map-based dashboard displays flagged dark-ship and ship-to-ship transfer events, ranked by suspicion score.</a:t>
            </a:r>
            <a:endParaRPr lang="en-IN" sz="1600" dirty="0"/>
          </a:p>
        </p:txBody>
      </p:sp>
      <p:sp>
        <p:nvSpPr>
          <p:cNvPr id="4" name="Footer Placeholder 3">
            <a:extLst>
              <a:ext uri="{FF2B5EF4-FFF2-40B4-BE49-F238E27FC236}">
                <a16:creationId xmlns:a16="http://schemas.microsoft.com/office/drawing/2014/main" id="{1FAA9B11-0C94-3C71-1623-BB9C2A0B922B}"/>
              </a:ext>
            </a:extLst>
          </p:cNvPr>
          <p:cNvSpPr>
            <a:spLocks noGrp="1"/>
          </p:cNvSpPr>
          <p:nvPr>
            <p:ph type="ftr" idx="11"/>
          </p:nvPr>
        </p:nvSpPr>
        <p:spPr/>
        <p:txBody>
          <a:bodyPr/>
          <a:lstStyle/>
          <a:p>
            <a:r>
              <a:rPr lang="en-US"/>
              <a:t>Department of computer Science</a:t>
            </a:r>
          </a:p>
        </p:txBody>
      </p:sp>
      <p:sp>
        <p:nvSpPr>
          <p:cNvPr id="5" name="Slide Number Placeholder 4">
            <a:extLst>
              <a:ext uri="{FF2B5EF4-FFF2-40B4-BE49-F238E27FC236}">
                <a16:creationId xmlns:a16="http://schemas.microsoft.com/office/drawing/2014/main" id="{F889CFB2-7B22-40D5-2876-CD3473856700}"/>
              </a:ext>
            </a:extLst>
          </p:cNvPr>
          <p:cNvSpPr>
            <a:spLocks noGrp="1"/>
          </p:cNvSpPr>
          <p:nvPr>
            <p:ph type="sldNum" idx="12"/>
          </p:nvPr>
        </p:nvSpPr>
        <p:spPr/>
        <p:txBody>
          <a:bodyPr/>
          <a:lstStyle/>
          <a:p>
            <a:pPr marL="131445" lvl="0" indent="0" algn="l" rtl="0">
              <a:spcBef>
                <a:spcPts val="0"/>
              </a:spcBef>
              <a:spcAft>
                <a:spcPts val="0"/>
              </a:spcAft>
              <a:buNone/>
            </a:pPr>
            <a:fld id="{00000000-1234-1234-1234-123412341234}" type="slidenum">
              <a:rPr lang="en-US" smtClean="0"/>
              <a:pPr marL="131445" lvl="0" indent="0" algn="l" rtl="0">
                <a:spcBef>
                  <a:spcPts val="0"/>
                </a:spcBef>
                <a:spcAft>
                  <a:spcPts val="0"/>
                </a:spcAft>
                <a:buNone/>
              </a:pPr>
              <a:t>11</a:t>
            </a:fld>
            <a:endParaRPr lang="en-US"/>
          </a:p>
        </p:txBody>
      </p:sp>
    </p:spTree>
    <p:extLst>
      <p:ext uri="{BB962C8B-B14F-4D97-AF65-F5344CB8AC3E}">
        <p14:creationId xmlns:p14="http://schemas.microsoft.com/office/powerpoint/2010/main" val="815513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8489" y="383405"/>
            <a:ext cx="4466898" cy="553998"/>
          </a:xfrm>
        </p:spPr>
        <p:txBody>
          <a:bodyPr/>
          <a:lstStyle/>
          <a:p>
            <a:pPr algn="ctr"/>
            <a:r>
              <a:rPr lang="en-US" dirty="0"/>
              <a:t>CLASS DIAGRAM</a:t>
            </a:r>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a:xfrm>
            <a:off x="8365490" y="4799612"/>
            <a:ext cx="278130" cy="184666"/>
          </a:xfrm>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12</a:t>
            </a:fld>
            <a:endParaRPr lang="en-US" dirty="0">
              <a:solidFill>
                <a:schemeClr val="bg1"/>
              </a:solidFill>
            </a:endParaRPr>
          </a:p>
        </p:txBody>
      </p:sp>
      <p:sp>
        <p:nvSpPr>
          <p:cNvPr id="7" name="Subtitle 6">
            <a:extLst>
              <a:ext uri="{FF2B5EF4-FFF2-40B4-BE49-F238E27FC236}">
                <a16:creationId xmlns:a16="http://schemas.microsoft.com/office/drawing/2014/main" id="{DE9AB214-EDE6-3F21-EBB4-576A7B9F8042}"/>
              </a:ext>
            </a:extLst>
          </p:cNvPr>
          <p:cNvSpPr>
            <a:spLocks noGrp="1"/>
          </p:cNvSpPr>
          <p:nvPr>
            <p:ph type="subTitle" idx="1"/>
          </p:nvPr>
        </p:nvSpPr>
        <p:spPr>
          <a:xfrm>
            <a:off x="118532" y="1198882"/>
            <a:ext cx="4383406" cy="3447098"/>
          </a:xfrm>
        </p:spPr>
        <p:txBody>
          <a:bodyPr/>
          <a:lstStyle/>
          <a:p>
            <a:pPr marL="514350" indent="-285750">
              <a:buFont typeface="Arial" panose="020B0604020202020204" pitchFamily="34" charset="0"/>
              <a:buChar char="•"/>
            </a:pPr>
            <a:r>
              <a:rPr lang="en-US" sz="1400" dirty="0"/>
              <a:t>The Class Diagram represents the static structure of the system by showing the major classes, their attributes, operations, and relationships. </a:t>
            </a:r>
          </a:p>
          <a:p>
            <a:pPr marL="514350" indent="-285750">
              <a:buFont typeface="Arial" panose="020B0604020202020204" pitchFamily="34" charset="0"/>
              <a:buChar char="•"/>
            </a:pPr>
            <a:r>
              <a:rPr lang="en-US" sz="1400" dirty="0"/>
              <a:t>The main classes involved in the system are </a:t>
            </a:r>
            <a:r>
              <a:rPr lang="en-US" sz="1400" dirty="0" err="1"/>
              <a:t>SARImage</a:t>
            </a:r>
            <a:r>
              <a:rPr lang="en-US" sz="1400" dirty="0"/>
              <a:t>, </a:t>
            </a:r>
            <a:r>
              <a:rPr lang="en-US" sz="1400" dirty="0" err="1"/>
              <a:t>VesselDetection</a:t>
            </a:r>
            <a:r>
              <a:rPr lang="en-US" sz="1400" dirty="0"/>
              <a:t>, </a:t>
            </a:r>
            <a:r>
              <a:rPr lang="en-US" sz="1400" dirty="0" err="1"/>
              <a:t>AISRecord</a:t>
            </a:r>
            <a:r>
              <a:rPr lang="en-US" sz="1400" dirty="0"/>
              <a:t>, </a:t>
            </a:r>
            <a:r>
              <a:rPr lang="en-US" sz="1400" dirty="0" err="1"/>
              <a:t>DarkShipEvent</a:t>
            </a:r>
            <a:r>
              <a:rPr lang="en-US" sz="1400" dirty="0"/>
              <a:t>, and </a:t>
            </a:r>
            <a:r>
              <a:rPr lang="en-US" sz="1400" dirty="0" err="1"/>
              <a:t>STSTransferEvent</a:t>
            </a:r>
            <a:r>
              <a:rPr lang="en-US" sz="1400" dirty="0"/>
              <a:t>. These classes represent the entities required for satellite image handling, vessel detection, AIS cross-verification, and suspicion scoring.</a:t>
            </a:r>
          </a:p>
          <a:p>
            <a:pPr marL="514350" indent="-285750">
              <a:buFont typeface="Arial" panose="020B0604020202020204" pitchFamily="34" charset="0"/>
              <a:buChar char="•"/>
            </a:pPr>
            <a:r>
              <a:rPr lang="en-US" sz="1400" dirty="0"/>
              <a:t> A SARImage produces one or more VesselDetections; each VesselDetection is checked against AISRecords, and unmatched detections become DarkShipEvents, which may be paired into an STSTransferEvent with an associated suspicion score.</a:t>
            </a:r>
            <a:endParaRPr lang="en-IN" sz="1400" dirty="0"/>
          </a:p>
        </p:txBody>
      </p:sp>
      <p:pic>
        <p:nvPicPr>
          <p:cNvPr id="99" name="Diagram Image"/>
          <p:cNvPicPr>
            <a:picLocks noChangeAspect="1"/>
          </p:cNvPicPr>
          <p:nvPr/>
        </p:nvPicPr>
        <p:blipFill>
          <a:blip r:embed="rId2"/>
          <a:stretch>
            <a:fillRect/>
          </a:stretch>
        </p:blipFill>
        <p:spPr>
          <a:xfrm>
            <a:off x="4986786" y="1029476"/>
            <a:ext cx="3413709" cy="36165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70780B-1838-F7AD-F39E-620DA1E846E1}"/>
              </a:ext>
            </a:extLst>
          </p:cNvPr>
          <p:cNvSpPr>
            <a:spLocks noGrp="1"/>
          </p:cNvSpPr>
          <p:nvPr>
            <p:ph type="title"/>
          </p:nvPr>
        </p:nvSpPr>
        <p:spPr>
          <a:xfrm>
            <a:off x="508000" y="28812"/>
            <a:ext cx="7880350" cy="1107996"/>
          </a:xfrm>
        </p:spPr>
        <p:txBody>
          <a:bodyPr/>
          <a:lstStyle/>
          <a:p>
            <a:pPr algn="ctr"/>
            <a:br>
              <a:rPr lang="en-US" dirty="0"/>
            </a:br>
            <a:r>
              <a:rPr lang="en-US" dirty="0"/>
              <a:t>USECASE DIAGRAM</a:t>
            </a:r>
            <a:endParaRPr lang="en-IN" dirty="0"/>
          </a:p>
        </p:txBody>
      </p:sp>
      <p:sp>
        <p:nvSpPr>
          <p:cNvPr id="3" name="Subtitle 2"/>
          <p:cNvSpPr>
            <a:spLocks noGrp="1"/>
          </p:cNvSpPr>
          <p:nvPr>
            <p:ph type="body" idx="1"/>
          </p:nvPr>
        </p:nvSpPr>
        <p:spPr>
          <a:xfrm>
            <a:off x="5405119" y="1257299"/>
            <a:ext cx="3233103" cy="3435350"/>
          </a:xfrm>
        </p:spPr>
        <p:txBody>
          <a:bodyPr/>
          <a:lstStyle/>
          <a:p>
            <a:r>
              <a:rPr lang="en-US" dirty="0"/>
              <a:t> </a:t>
            </a:r>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13</a:t>
            </a:fld>
            <a:endParaRPr lang="en-US" dirty="0">
              <a:solidFill>
                <a:schemeClr val="bg1"/>
              </a:solidFill>
            </a:endParaRPr>
          </a:p>
        </p:txBody>
      </p:sp>
      <p:sp>
        <p:nvSpPr>
          <p:cNvPr id="6" name="TextBox 5">
            <a:extLst>
              <a:ext uri="{FF2B5EF4-FFF2-40B4-BE49-F238E27FC236}">
                <a16:creationId xmlns:a16="http://schemas.microsoft.com/office/drawing/2014/main" id="{4BBD5E7C-37D2-A973-F1FD-AF7AD96AA817}"/>
              </a:ext>
            </a:extLst>
          </p:cNvPr>
          <p:cNvSpPr txBox="1"/>
          <p:nvPr/>
        </p:nvSpPr>
        <p:spPr>
          <a:xfrm>
            <a:off x="4572000" y="1364531"/>
            <a:ext cx="4266035" cy="3108543"/>
          </a:xfrm>
          <a:prstGeom prst="rect">
            <a:avLst/>
          </a:prstGeom>
          <a:noFill/>
        </p:spPr>
        <p:txBody>
          <a:bodyPr wrap="square" rtlCol="0">
            <a:spAutoFit/>
          </a:bodyPr>
          <a:lstStyle/>
          <a:p>
            <a:r>
              <a:rPr lang="en-US" dirty="0"/>
              <a:t>The Use Case Diagram represents the functional interaction between the researcher/analyst and the dark ship detection system. It shows the activities the user can perform, such as selecting a target maritime area, downloading SAR imagery, running vessel detection, fetching AIS tracking data, cross-verifying detections against AIS records, viewing flagged dark ships, reviewing paired ship-to-ship transfer events, and viewing the suspicion-scored map dashboard. The system uses a YOLOv8 detector, an AIS cross-verification module, a suspicion-scoring module, and a dashboard for presenting results.</a:t>
            </a:r>
            <a:endParaRPr lang="en-IN" dirty="0"/>
          </a:p>
        </p:txBody>
      </p:sp>
      <p:pic>
        <p:nvPicPr>
          <p:cNvPr id="99" name="Diagram Image"/>
          <p:cNvPicPr>
            <a:picLocks noChangeAspect="1"/>
          </p:cNvPicPr>
          <p:nvPr/>
        </p:nvPicPr>
        <p:blipFill>
          <a:blip r:embed="rId2"/>
          <a:stretch>
            <a:fillRect/>
          </a:stretch>
        </p:blipFill>
        <p:spPr>
          <a:xfrm>
            <a:off x="877039" y="1364531"/>
            <a:ext cx="3196804" cy="322088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4A6FE-A37F-7F54-F908-65E1F387C442}"/>
              </a:ext>
            </a:extLst>
          </p:cNvPr>
          <p:cNvSpPr>
            <a:spLocks noGrp="1"/>
          </p:cNvSpPr>
          <p:nvPr>
            <p:ph type="ctrTitle"/>
          </p:nvPr>
        </p:nvSpPr>
        <p:spPr>
          <a:xfrm>
            <a:off x="2300393" y="239749"/>
            <a:ext cx="4543214" cy="553998"/>
          </a:xfrm>
        </p:spPr>
        <p:txBody>
          <a:bodyPr/>
          <a:lstStyle/>
          <a:p>
            <a:r>
              <a:rPr lang="en-US" dirty="0"/>
              <a:t>ACTIVITY DIAGRAM</a:t>
            </a:r>
            <a:endParaRPr lang="en-IN" dirty="0"/>
          </a:p>
        </p:txBody>
      </p:sp>
      <p:sp>
        <p:nvSpPr>
          <p:cNvPr id="3" name="Subtitle 2">
            <a:extLst>
              <a:ext uri="{FF2B5EF4-FFF2-40B4-BE49-F238E27FC236}">
                <a16:creationId xmlns:a16="http://schemas.microsoft.com/office/drawing/2014/main" id="{99246411-B6B7-2F81-31D7-027E37B3D271}"/>
              </a:ext>
            </a:extLst>
          </p:cNvPr>
          <p:cNvSpPr>
            <a:spLocks noGrp="1"/>
          </p:cNvSpPr>
          <p:nvPr>
            <p:ph type="subTitle" idx="1"/>
          </p:nvPr>
        </p:nvSpPr>
        <p:spPr>
          <a:xfrm>
            <a:off x="3877732" y="1290954"/>
            <a:ext cx="4853093" cy="3231654"/>
          </a:xfrm>
        </p:spPr>
        <p:txBody>
          <a:bodyPr/>
          <a:lstStyle/>
          <a:p>
            <a:pPr marL="514350" indent="-285750">
              <a:buFont typeface="Arial" panose="020B0604020202020204" pitchFamily="34" charset="0"/>
              <a:buChar char="•"/>
            </a:pPr>
            <a:r>
              <a:rPr lang="en-US" sz="1400" dirty="0"/>
              <a:t>The Activity Diagram represents the complete workflow of the proposed system from data acquisition to the final dashboard display. The process begins when a SAR satellite image and corresponding AIS data are downloaded for the selected maritime area and date range.</a:t>
            </a:r>
          </a:p>
          <a:p>
            <a:pPr marL="514350" indent="-285750">
              <a:buFont typeface="Arial" panose="020B0604020202020204" pitchFamily="34" charset="0"/>
              <a:buChar char="•"/>
            </a:pPr>
            <a:r>
              <a:rPr lang="en-US" sz="1400" dirty="0"/>
              <a:t> The SAR image is preprocessed and tiled, then the YOLOv8 model detects vessels in each tile. </a:t>
            </a:r>
          </a:p>
          <a:p>
            <a:pPr marL="514350" indent="-285750">
              <a:buFont typeface="Arial" panose="020B0604020202020204" pitchFamily="34" charset="0"/>
              <a:buChar char="•"/>
            </a:pPr>
            <a:r>
              <a:rPr lang="en-US" sz="1400" dirty="0"/>
              <a:t>Each vessel and STS detection is cross-verified against AIS records within a time window; STS detections with fewer than two matching AIS identities are flagged dark, false-positive filters are applied, a suspicion score is computed, and results are displayed on the dashboard.</a:t>
            </a:r>
            <a:endParaRPr lang="en-IN" sz="1400" dirty="0"/>
          </a:p>
        </p:txBody>
      </p:sp>
      <p:sp>
        <p:nvSpPr>
          <p:cNvPr id="4" name="Footer Placeholder 3">
            <a:extLst>
              <a:ext uri="{FF2B5EF4-FFF2-40B4-BE49-F238E27FC236}">
                <a16:creationId xmlns:a16="http://schemas.microsoft.com/office/drawing/2014/main" id="{C72D333D-93B1-AD5B-98ED-F7895BECCA35}"/>
              </a:ext>
            </a:extLst>
          </p:cNvPr>
          <p:cNvSpPr>
            <a:spLocks noGrp="1"/>
          </p:cNvSpPr>
          <p:nvPr>
            <p:ph type="ftr" idx="11"/>
          </p:nvPr>
        </p:nvSpPr>
        <p:spPr/>
        <p:txBody>
          <a:bodyPr/>
          <a:lstStyle/>
          <a:p>
            <a:r>
              <a:rPr lang="en-US"/>
              <a:t>Department of computer Science</a:t>
            </a:r>
          </a:p>
        </p:txBody>
      </p:sp>
      <p:sp>
        <p:nvSpPr>
          <p:cNvPr id="5" name="Slide Number Placeholder 4">
            <a:extLst>
              <a:ext uri="{FF2B5EF4-FFF2-40B4-BE49-F238E27FC236}">
                <a16:creationId xmlns:a16="http://schemas.microsoft.com/office/drawing/2014/main" id="{D80ABF6D-D02E-EC03-CB97-2B3B2F75EBE3}"/>
              </a:ext>
            </a:extLst>
          </p:cNvPr>
          <p:cNvSpPr>
            <a:spLocks noGrp="1"/>
          </p:cNvSpPr>
          <p:nvPr>
            <p:ph type="sldNum" idx="12"/>
          </p:nvPr>
        </p:nvSpPr>
        <p:spPr/>
        <p:txBody>
          <a:bodyPr/>
          <a:lstStyle/>
          <a:p>
            <a:pPr marL="131445" lvl="0" indent="0" algn="l" rtl="0">
              <a:spcBef>
                <a:spcPts val="0"/>
              </a:spcBef>
              <a:spcAft>
                <a:spcPts val="0"/>
              </a:spcAft>
              <a:buNone/>
            </a:pPr>
            <a:fld id="{00000000-1234-1234-1234-123412341234}" type="slidenum">
              <a:rPr lang="en-US" smtClean="0"/>
              <a:pPr marL="131445" lvl="0" indent="0" algn="l" rtl="0">
                <a:spcBef>
                  <a:spcPts val="0"/>
                </a:spcBef>
                <a:spcAft>
                  <a:spcPts val="0"/>
                </a:spcAft>
                <a:buNone/>
              </a:pPr>
              <a:t>14</a:t>
            </a:fld>
            <a:endParaRPr lang="en-US"/>
          </a:p>
        </p:txBody>
      </p:sp>
      <p:pic>
        <p:nvPicPr>
          <p:cNvPr id="99" name="Diagram Image"/>
          <p:cNvPicPr>
            <a:picLocks noChangeAspect="1"/>
          </p:cNvPicPr>
          <p:nvPr/>
        </p:nvPicPr>
        <p:blipFill>
          <a:blip r:embed="rId2"/>
          <a:stretch>
            <a:fillRect/>
          </a:stretch>
        </p:blipFill>
        <p:spPr>
          <a:xfrm>
            <a:off x="338780" y="945691"/>
            <a:ext cx="3528679" cy="3792361"/>
          </a:xfrm>
          <a:prstGeom prst="rect">
            <a:avLst/>
          </a:prstGeom>
        </p:spPr>
      </p:pic>
    </p:spTree>
    <p:extLst>
      <p:ext uri="{BB962C8B-B14F-4D97-AF65-F5344CB8AC3E}">
        <p14:creationId xmlns:p14="http://schemas.microsoft.com/office/powerpoint/2010/main" val="4218375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90835-87DF-B876-3E51-59B4122EC584}"/>
              </a:ext>
            </a:extLst>
          </p:cNvPr>
          <p:cNvSpPr>
            <a:spLocks noGrp="1"/>
          </p:cNvSpPr>
          <p:nvPr>
            <p:ph type="ctrTitle"/>
          </p:nvPr>
        </p:nvSpPr>
        <p:spPr>
          <a:xfrm>
            <a:off x="1988291" y="283954"/>
            <a:ext cx="5167418" cy="553998"/>
          </a:xfrm>
        </p:spPr>
        <p:txBody>
          <a:bodyPr/>
          <a:lstStyle/>
          <a:p>
            <a:r>
              <a:rPr lang="en-US" dirty="0"/>
              <a:t>SEQUENCE DIAGRAM</a:t>
            </a:r>
            <a:endParaRPr lang="en-IN" dirty="0"/>
          </a:p>
        </p:txBody>
      </p:sp>
      <p:sp>
        <p:nvSpPr>
          <p:cNvPr id="3" name="Subtitle 2">
            <a:extLst>
              <a:ext uri="{FF2B5EF4-FFF2-40B4-BE49-F238E27FC236}">
                <a16:creationId xmlns:a16="http://schemas.microsoft.com/office/drawing/2014/main" id="{7A6F4F64-18F4-3D49-8CD4-78D28E88DF0C}"/>
              </a:ext>
            </a:extLst>
          </p:cNvPr>
          <p:cNvSpPr>
            <a:spLocks noGrp="1"/>
          </p:cNvSpPr>
          <p:nvPr>
            <p:ph type="subTitle" idx="1"/>
          </p:nvPr>
        </p:nvSpPr>
        <p:spPr>
          <a:xfrm>
            <a:off x="3908212" y="956731"/>
            <a:ext cx="4735408" cy="3662541"/>
          </a:xfrm>
        </p:spPr>
        <p:txBody>
          <a:bodyPr/>
          <a:lstStyle/>
          <a:p>
            <a:pPr marL="514350" indent="-285750">
              <a:buFont typeface="Arial" panose="020B0604020202020204" pitchFamily="34" charset="0"/>
              <a:buChar char="•"/>
            </a:pPr>
            <a:r>
              <a:rPr lang="en-US" sz="1400" dirty="0"/>
              <a:t>The Sequence Diagram represents the chronological communication between different components of the system. The main participants are the user, the SAR/AIS data fetcher, the preprocessing module, the YOLOv8 detector, the AIS verification module, and the dashboard. </a:t>
            </a:r>
          </a:p>
          <a:p>
            <a:pPr marL="514350" indent="-285750">
              <a:buFont typeface="Arial" panose="020B0604020202020204" pitchFamily="34" charset="0"/>
              <a:buChar char="•"/>
            </a:pPr>
            <a:r>
              <a:rPr lang="en-US" sz="1400" dirty="0"/>
              <a:t>The user requests analysis for a target area; the fetcher downloads SAR imagery and AIS data, the preprocessing module prepares tiles, and the detector returns vessel detections. </a:t>
            </a:r>
          </a:p>
          <a:p>
            <a:pPr marL="514350" indent="-285750">
              <a:buFont typeface="Arial" panose="020B0604020202020204" pitchFamily="34" charset="0"/>
              <a:buChar char="•"/>
            </a:pPr>
            <a:r>
              <a:rPr lang="en-US" sz="1400" dirty="0"/>
              <a:t>The verification module cross-checks each STS detection against AIS records and flags dark STS events; the scoring module computes suspicion scores for these events, and the dashboard displays the final results to the user.</a:t>
            </a:r>
            <a:endParaRPr lang="en-IN" sz="1400" dirty="0"/>
          </a:p>
        </p:txBody>
      </p:sp>
      <p:sp>
        <p:nvSpPr>
          <p:cNvPr id="4" name="Footer Placeholder 3">
            <a:extLst>
              <a:ext uri="{FF2B5EF4-FFF2-40B4-BE49-F238E27FC236}">
                <a16:creationId xmlns:a16="http://schemas.microsoft.com/office/drawing/2014/main" id="{D9C24A61-E548-ED8E-342A-934C7EB73338}"/>
              </a:ext>
            </a:extLst>
          </p:cNvPr>
          <p:cNvSpPr>
            <a:spLocks noGrp="1"/>
          </p:cNvSpPr>
          <p:nvPr>
            <p:ph type="ftr" idx="11"/>
          </p:nvPr>
        </p:nvSpPr>
        <p:spPr/>
        <p:txBody>
          <a:bodyPr/>
          <a:lstStyle/>
          <a:p>
            <a:r>
              <a:rPr lang="en-US"/>
              <a:t>Department of computer Science</a:t>
            </a:r>
          </a:p>
        </p:txBody>
      </p:sp>
      <p:sp>
        <p:nvSpPr>
          <p:cNvPr id="5" name="Slide Number Placeholder 4">
            <a:extLst>
              <a:ext uri="{FF2B5EF4-FFF2-40B4-BE49-F238E27FC236}">
                <a16:creationId xmlns:a16="http://schemas.microsoft.com/office/drawing/2014/main" id="{D15F01DF-1C66-963A-06A7-534FF48F1E9D}"/>
              </a:ext>
            </a:extLst>
          </p:cNvPr>
          <p:cNvSpPr>
            <a:spLocks noGrp="1"/>
          </p:cNvSpPr>
          <p:nvPr>
            <p:ph type="sldNum" idx="12"/>
          </p:nvPr>
        </p:nvSpPr>
        <p:spPr/>
        <p:txBody>
          <a:bodyPr/>
          <a:lstStyle/>
          <a:p>
            <a:pPr marL="131445" lvl="0" indent="0" algn="l" rtl="0">
              <a:spcBef>
                <a:spcPts val="0"/>
              </a:spcBef>
              <a:spcAft>
                <a:spcPts val="0"/>
              </a:spcAft>
              <a:buNone/>
            </a:pPr>
            <a:fld id="{00000000-1234-1234-1234-123412341234}" type="slidenum">
              <a:rPr lang="en-US" smtClean="0"/>
              <a:pPr marL="131445" lvl="0" indent="0" algn="l" rtl="0">
                <a:spcBef>
                  <a:spcPts val="0"/>
                </a:spcBef>
                <a:spcAft>
                  <a:spcPts val="0"/>
                </a:spcAft>
                <a:buNone/>
              </a:pPr>
              <a:t>15</a:t>
            </a:fld>
            <a:endParaRPr lang="en-US"/>
          </a:p>
        </p:txBody>
      </p:sp>
      <p:pic>
        <p:nvPicPr>
          <p:cNvPr id="99" name="Diagram Image"/>
          <p:cNvPicPr>
            <a:picLocks noChangeAspect="1"/>
          </p:cNvPicPr>
          <p:nvPr/>
        </p:nvPicPr>
        <p:blipFill>
          <a:blip r:embed="rId2"/>
          <a:stretch>
            <a:fillRect/>
          </a:stretch>
        </p:blipFill>
        <p:spPr>
          <a:xfrm>
            <a:off x="273115" y="1220028"/>
            <a:ext cx="3736697" cy="3292333"/>
          </a:xfrm>
          <a:prstGeom prst="rect">
            <a:avLst/>
          </a:prstGeom>
        </p:spPr>
      </p:pic>
    </p:spTree>
    <p:extLst>
      <p:ext uri="{BB962C8B-B14F-4D97-AF65-F5344CB8AC3E}">
        <p14:creationId xmlns:p14="http://schemas.microsoft.com/office/powerpoint/2010/main" val="750107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53E7F-E274-FD45-5F2C-DD93EBB0F950}"/>
              </a:ext>
            </a:extLst>
          </p:cNvPr>
          <p:cNvSpPr>
            <a:spLocks noGrp="1"/>
          </p:cNvSpPr>
          <p:nvPr>
            <p:ph type="ctrTitle"/>
          </p:nvPr>
        </p:nvSpPr>
        <p:spPr>
          <a:xfrm>
            <a:off x="2161011" y="294005"/>
            <a:ext cx="4821978" cy="553998"/>
          </a:xfrm>
        </p:spPr>
        <p:txBody>
          <a:bodyPr/>
          <a:lstStyle/>
          <a:p>
            <a:r>
              <a:rPr lang="en-US" dirty="0"/>
              <a:t>COMPONENT DIAGRAM</a:t>
            </a:r>
            <a:endParaRPr lang="en-IN" dirty="0"/>
          </a:p>
        </p:txBody>
      </p:sp>
      <p:sp>
        <p:nvSpPr>
          <p:cNvPr id="3" name="Subtitle 2">
            <a:extLst>
              <a:ext uri="{FF2B5EF4-FFF2-40B4-BE49-F238E27FC236}">
                <a16:creationId xmlns:a16="http://schemas.microsoft.com/office/drawing/2014/main" id="{405BF034-0762-05BA-8E46-C4016E5EBBD0}"/>
              </a:ext>
            </a:extLst>
          </p:cNvPr>
          <p:cNvSpPr>
            <a:spLocks noGrp="1"/>
          </p:cNvSpPr>
          <p:nvPr>
            <p:ph type="subTitle" idx="1"/>
          </p:nvPr>
        </p:nvSpPr>
        <p:spPr>
          <a:xfrm>
            <a:off x="4253652" y="1131147"/>
            <a:ext cx="4389968" cy="3501813"/>
          </a:xfrm>
        </p:spPr>
        <p:txBody>
          <a:bodyPr/>
          <a:lstStyle/>
          <a:p>
            <a:pPr marL="514350" indent="-285750">
              <a:buFont typeface="Arial" panose="020B0604020202020204" pitchFamily="34" charset="0"/>
              <a:buChar char="•"/>
            </a:pPr>
            <a:r>
              <a:rPr lang="en-US" sz="1400" dirty="0"/>
              <a:t>The Component Diagram represents the major software components of the system and their dependencies. The main components include the Data Acquisition module, Preprocessing module, YOLOv8 Detection module, AIS Verification module, Scoring module, and Dashboard. </a:t>
            </a:r>
          </a:p>
          <a:p>
            <a:pPr marL="514350" indent="-285750">
              <a:buFont typeface="Arial" panose="020B0604020202020204" pitchFamily="34" charset="0"/>
              <a:buChar char="•"/>
            </a:pPr>
            <a:r>
              <a:rPr lang="en-US" sz="1400" dirty="0"/>
              <a:t>The Data Acquisition module feeds the Preprocessing module, which supplies clean tiles to the Detection module. The Detection module's output is passed to the AIS Verification module for cross-checking. </a:t>
            </a:r>
          </a:p>
          <a:p>
            <a:pPr marL="514350" indent="-285750">
              <a:buFont typeface="Arial" panose="020B0604020202020204" pitchFamily="34" charset="0"/>
              <a:buChar char="•"/>
            </a:pPr>
            <a:r>
              <a:rPr lang="en-US" sz="1400" dirty="0"/>
              <a:t>The Scoring module consumes flagged dark-ship events from the Verification module and computes suspicion scores, which the Dashboard component retrieves and displays</a:t>
            </a:r>
            <a:r>
              <a:rPr lang="en-US" dirty="0"/>
              <a:t>.</a:t>
            </a:r>
            <a:endParaRPr lang="en-IN" dirty="0"/>
          </a:p>
        </p:txBody>
      </p:sp>
      <p:sp>
        <p:nvSpPr>
          <p:cNvPr id="4" name="Footer Placeholder 3">
            <a:extLst>
              <a:ext uri="{FF2B5EF4-FFF2-40B4-BE49-F238E27FC236}">
                <a16:creationId xmlns:a16="http://schemas.microsoft.com/office/drawing/2014/main" id="{47AC3386-272A-839E-F851-DD2EAA7E44F0}"/>
              </a:ext>
            </a:extLst>
          </p:cNvPr>
          <p:cNvSpPr>
            <a:spLocks noGrp="1"/>
          </p:cNvSpPr>
          <p:nvPr>
            <p:ph type="ftr" idx="11"/>
          </p:nvPr>
        </p:nvSpPr>
        <p:spPr/>
        <p:txBody>
          <a:bodyPr/>
          <a:lstStyle/>
          <a:p>
            <a:r>
              <a:rPr lang="en-US"/>
              <a:t>Department of computer Science</a:t>
            </a:r>
          </a:p>
        </p:txBody>
      </p:sp>
      <p:sp>
        <p:nvSpPr>
          <p:cNvPr id="5" name="Slide Number Placeholder 4">
            <a:extLst>
              <a:ext uri="{FF2B5EF4-FFF2-40B4-BE49-F238E27FC236}">
                <a16:creationId xmlns:a16="http://schemas.microsoft.com/office/drawing/2014/main" id="{EBAA2726-EA46-2844-9B2F-C08DFD564F22}"/>
              </a:ext>
            </a:extLst>
          </p:cNvPr>
          <p:cNvSpPr>
            <a:spLocks noGrp="1"/>
          </p:cNvSpPr>
          <p:nvPr>
            <p:ph type="sldNum" idx="12"/>
          </p:nvPr>
        </p:nvSpPr>
        <p:spPr/>
        <p:txBody>
          <a:bodyPr/>
          <a:lstStyle/>
          <a:p>
            <a:pPr marL="131445" lvl="0" indent="0" algn="l" rtl="0">
              <a:spcBef>
                <a:spcPts val="0"/>
              </a:spcBef>
              <a:spcAft>
                <a:spcPts val="0"/>
              </a:spcAft>
              <a:buNone/>
            </a:pPr>
            <a:fld id="{00000000-1234-1234-1234-123412341234}" type="slidenum">
              <a:rPr lang="en-US" smtClean="0"/>
              <a:pPr marL="131445" lvl="0" indent="0" algn="l" rtl="0">
                <a:spcBef>
                  <a:spcPts val="0"/>
                </a:spcBef>
                <a:spcAft>
                  <a:spcPts val="0"/>
                </a:spcAft>
                <a:buNone/>
              </a:pPr>
              <a:t>16</a:t>
            </a:fld>
            <a:endParaRPr lang="en-US"/>
          </a:p>
        </p:txBody>
      </p:sp>
      <p:pic>
        <p:nvPicPr>
          <p:cNvPr id="99" name="Diagram Image"/>
          <p:cNvPicPr>
            <a:picLocks noChangeAspect="1"/>
          </p:cNvPicPr>
          <p:nvPr/>
        </p:nvPicPr>
        <p:blipFill>
          <a:blip r:embed="rId2"/>
          <a:stretch>
            <a:fillRect/>
          </a:stretch>
        </p:blipFill>
        <p:spPr>
          <a:xfrm>
            <a:off x="640552" y="1974090"/>
            <a:ext cx="3762113" cy="1637878"/>
          </a:xfrm>
          <a:prstGeom prst="rect">
            <a:avLst/>
          </a:prstGeom>
        </p:spPr>
      </p:pic>
    </p:spTree>
    <p:extLst>
      <p:ext uri="{BB962C8B-B14F-4D97-AF65-F5344CB8AC3E}">
        <p14:creationId xmlns:p14="http://schemas.microsoft.com/office/powerpoint/2010/main" val="742065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5960" y="274320"/>
            <a:ext cx="5257800" cy="59436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sz="3000" b="0" i="0" u="none" strike="noStrike" kern="0" cap="none" spc="0" normalizeH="0" baseline="0" noProof="0">
                <a:ln>
                  <a:noFill/>
                </a:ln>
                <a:solidFill>
                  <a:srgbClr val="000000"/>
                </a:solidFill>
                <a:effectLst/>
                <a:uLnTx/>
                <a:uFillTx/>
                <a:latin typeface="Times New Roman"/>
                <a:cs typeface="Arial" panose="020B0604020202020204"/>
                <a:sym typeface="Arial" panose="020B0604020202020204"/>
              </a:rPr>
              <a:t>OBJECT DIAGRAM</a:t>
            </a:r>
          </a:p>
        </p:txBody>
      </p:sp>
      <p:pic>
        <p:nvPicPr>
          <p:cNvPr id="3" name="Picture 2" descr="object_diagram_crop.png"/>
          <p:cNvPicPr>
            <a:picLocks noChangeAspect="1"/>
          </p:cNvPicPr>
          <p:nvPr/>
        </p:nvPicPr>
        <p:blipFill>
          <a:blip r:embed="rId2"/>
          <a:stretch>
            <a:fillRect/>
          </a:stretch>
        </p:blipFill>
        <p:spPr>
          <a:xfrm>
            <a:off x="182880" y="1143000"/>
            <a:ext cx="3749039" cy="3429000"/>
          </a:xfrm>
          <a:prstGeom prst="rect">
            <a:avLst/>
          </a:prstGeom>
        </p:spPr>
      </p:pic>
      <p:sp>
        <p:nvSpPr>
          <p:cNvPr id="4" name="TextBox 3"/>
          <p:cNvSpPr txBox="1"/>
          <p:nvPr/>
        </p:nvSpPr>
        <p:spPr>
          <a:xfrm>
            <a:off x="3977639" y="960120"/>
            <a:ext cx="4800600" cy="3794760"/>
          </a:xfrm>
          <a:prstGeom prst="rect">
            <a:avLst/>
          </a:prstGeom>
          <a:noFill/>
        </p:spPr>
        <p:txBody>
          <a:bodyPr wrap="square">
            <a:spAutoFit/>
          </a:bodyPr>
          <a:lstStyle/>
          <a:p>
            <a:pPr marL="0" marR="0" lvl="0" indent="0" algn="l" defTabSz="914400" rtl="0" eaLnBrk="1" fontAlgn="auto" latinLnBrk="0" hangingPunct="1">
              <a:lnSpc>
                <a:spcPct val="105000"/>
              </a:lnSpc>
              <a:spcBef>
                <a:spcPts val="0"/>
              </a:spcBef>
              <a:spcAft>
                <a:spcPts val="1000"/>
              </a:spcAft>
              <a:buClr>
                <a:srgbClr val="000000"/>
              </a:buClr>
              <a:buSzTx/>
              <a:buFont typeface="Arial" panose="020B0604020202020204"/>
              <a:buNone/>
              <a:tabLst/>
              <a:defRPr sz="1350">
                <a:solidFill>
                  <a:srgbClr val="000000"/>
                </a:solidFill>
                <a:latin typeface="Arial"/>
              </a:defRPr>
            </a:pPr>
            <a:r>
              <a:rPr kumimoji="0" sz="1350" b="0" i="0" u="none" strike="noStrike" kern="0" cap="none" spc="0" normalizeH="0" baseline="0" noProof="0" dirty="0">
                <a:ln>
                  <a:noFill/>
                </a:ln>
                <a:solidFill>
                  <a:srgbClr val="000000"/>
                </a:solidFill>
                <a:effectLst/>
                <a:uLnTx/>
                <a:uFillTx/>
                <a:latin typeface="Arial"/>
                <a:cs typeface="Arial" panose="020B0604020202020204"/>
                <a:sym typeface="Arial" panose="020B0604020202020204"/>
              </a:rPr>
              <a:t>The Object Diagram represents a snapshot of the Dark Ship-to-Ship Transfer Detection System at a particular point in time. It shows actual instances of SAR images, vessels, AIS records, dark events, analyzer, and dashboard.</a:t>
            </a:r>
          </a:p>
          <a:p>
            <a:pPr marL="0" marR="0" lvl="0" indent="0" algn="l" defTabSz="914400" rtl="0" eaLnBrk="1" fontAlgn="auto" latinLnBrk="0" hangingPunct="1">
              <a:lnSpc>
                <a:spcPct val="105000"/>
              </a:lnSpc>
              <a:spcBef>
                <a:spcPts val="0"/>
              </a:spcBef>
              <a:spcAft>
                <a:spcPts val="1000"/>
              </a:spcAft>
              <a:buClr>
                <a:srgbClr val="000000"/>
              </a:buClr>
              <a:buSzTx/>
              <a:buFont typeface="Arial" panose="020B0604020202020204"/>
              <a:buNone/>
              <a:tabLst/>
              <a:defRPr sz="1350">
                <a:solidFill>
                  <a:srgbClr val="000000"/>
                </a:solidFill>
                <a:latin typeface="Arial"/>
              </a:defRPr>
            </a:pPr>
            <a:r>
              <a:rPr kumimoji="0" sz="1350" b="0" i="0" u="none" strike="noStrike" kern="0" cap="none" spc="0" normalizeH="0" baseline="0" noProof="0" dirty="0">
                <a:ln>
                  <a:noFill/>
                </a:ln>
                <a:solidFill>
                  <a:srgbClr val="000000"/>
                </a:solidFill>
                <a:effectLst/>
                <a:uLnTx/>
                <a:uFillTx/>
                <a:latin typeface="Arial"/>
                <a:cs typeface="Arial" panose="020B0604020202020204"/>
                <a:sym typeface="Arial" panose="020B0604020202020204"/>
              </a:rPr>
              <a:t>The </a:t>
            </a:r>
            <a:r>
              <a:rPr kumimoji="0" sz="1350" b="0" i="0" u="none" strike="noStrike" kern="0" cap="none" spc="0" normalizeH="0" baseline="0" noProof="0" dirty="0" err="1">
                <a:ln>
                  <a:noFill/>
                </a:ln>
                <a:solidFill>
                  <a:srgbClr val="000000"/>
                </a:solidFill>
                <a:effectLst/>
                <a:uLnTx/>
                <a:uFillTx/>
                <a:latin typeface="Arial"/>
                <a:cs typeface="Arial" panose="020B0604020202020204"/>
                <a:sym typeface="Arial" panose="020B0604020202020204"/>
              </a:rPr>
              <a:t>SARImage</a:t>
            </a:r>
            <a:r>
              <a:rPr kumimoji="0" sz="1350" b="0" i="0" u="none" strike="noStrike" kern="0" cap="none" spc="0" normalizeH="0" baseline="0" noProof="0" dirty="0">
                <a:ln>
                  <a:noFill/>
                </a:ln>
                <a:solidFill>
                  <a:srgbClr val="000000"/>
                </a:solidFill>
                <a:effectLst/>
                <a:uLnTx/>
                <a:uFillTx/>
                <a:latin typeface="Arial"/>
                <a:cs typeface="Arial" panose="020B0604020202020204"/>
                <a:sym typeface="Arial" panose="020B0604020202020204"/>
              </a:rPr>
              <a:t> object contains detected vessel and STS objects; the detector identifies an STS event directly as a single box around rafted vessels, not by pairing two separately-detected vessels. Each detection may have a corresponding AIS record. When an STS detection has fewer than two matching AIS records nearby, it is represented as a dark event.</a:t>
            </a:r>
          </a:p>
          <a:p>
            <a:pPr marL="0" marR="0" lvl="0" indent="0" algn="l" defTabSz="914400" rtl="0" eaLnBrk="1" fontAlgn="auto" latinLnBrk="0" hangingPunct="1">
              <a:lnSpc>
                <a:spcPct val="105000"/>
              </a:lnSpc>
              <a:spcBef>
                <a:spcPts val="0"/>
              </a:spcBef>
              <a:spcAft>
                <a:spcPts val="1000"/>
              </a:spcAft>
              <a:buClr>
                <a:srgbClr val="000000"/>
              </a:buClr>
              <a:buSzTx/>
              <a:buFont typeface="Arial" panose="020B0604020202020204"/>
              <a:buNone/>
              <a:tabLst/>
              <a:defRPr sz="1350">
                <a:solidFill>
                  <a:srgbClr val="000000"/>
                </a:solidFill>
                <a:latin typeface="Arial"/>
              </a:defRPr>
            </a:pPr>
            <a:r>
              <a:rPr kumimoji="0" sz="1350" b="0" i="0" u="none" strike="noStrike" kern="0" cap="none" spc="0" normalizeH="0" baseline="0" noProof="0" dirty="0">
                <a:ln>
                  <a:noFill/>
                </a:ln>
                <a:solidFill>
                  <a:srgbClr val="000000"/>
                </a:solidFill>
                <a:effectLst/>
                <a:uLnTx/>
                <a:uFillTx/>
                <a:latin typeface="Arial"/>
                <a:cs typeface="Arial" panose="020B0604020202020204"/>
                <a:sym typeface="Arial" panose="020B0604020202020204"/>
              </a:rPr>
              <a:t>The dark event is analyzed by the analyzer, assigned a suspicion score, cross-checked against Global Fishing Watch's global layers, and displayed on the dashboard for the user/analyst.</a:t>
            </a:r>
          </a:p>
        </p:txBody>
      </p:sp>
      <p:sp>
        <p:nvSpPr>
          <p:cNvPr id="5" name="TextBox 4"/>
          <p:cNvSpPr txBox="1"/>
          <p:nvPr/>
        </p:nvSpPr>
        <p:spPr>
          <a:xfrm>
            <a:off x="3383280" y="4718304"/>
            <a:ext cx="2423160" cy="29260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sz="1000" b="0" i="0" u="none" strike="noStrike" kern="0" cap="none" spc="0" normalizeH="0" baseline="0" noProof="0">
                <a:ln>
                  <a:noFill/>
                </a:ln>
                <a:solidFill>
                  <a:srgbClr val="646464"/>
                </a:solidFill>
                <a:effectLst/>
                <a:uLnTx/>
                <a:uFillTx/>
                <a:latin typeface="Arial"/>
                <a:cs typeface="Arial" panose="020B0604020202020204"/>
                <a:sym typeface="Arial" panose="020B0604020202020204"/>
              </a:rPr>
              <a:t>Department of computer Science</a:t>
            </a:r>
          </a:p>
        </p:txBody>
      </p:sp>
      <p:sp>
        <p:nvSpPr>
          <p:cNvPr id="6" name="TextBox 5"/>
          <p:cNvSpPr txBox="1"/>
          <p:nvPr/>
        </p:nvSpPr>
        <p:spPr>
          <a:xfrm>
            <a:off x="8321040" y="4709160"/>
            <a:ext cx="320040" cy="2743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sz="900" b="0" i="0" u="none" strike="noStrike" kern="0" cap="none" spc="0" normalizeH="0" baseline="0" noProof="0">
                <a:ln>
                  <a:noFill/>
                </a:ln>
                <a:solidFill>
                  <a:srgbClr val="646464"/>
                </a:solidFill>
                <a:effectLst/>
                <a:uLnTx/>
                <a:uFillTx/>
                <a:latin typeface="Arial"/>
                <a:cs typeface="Arial" panose="020B0604020202020204"/>
                <a:sym typeface="Arial" panose="020B0604020202020204"/>
              </a:rPr>
              <a:t>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5960" y="274320"/>
            <a:ext cx="5257800" cy="59436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sz="3000" b="0" i="0" u="none" strike="noStrike" kern="0" cap="none" spc="0" normalizeH="0" baseline="0" noProof="0">
                <a:ln>
                  <a:noFill/>
                </a:ln>
                <a:solidFill>
                  <a:srgbClr val="000000"/>
                </a:solidFill>
                <a:effectLst/>
                <a:uLnTx/>
                <a:uFillTx/>
                <a:latin typeface="Times New Roman"/>
                <a:cs typeface="Arial" panose="020B0604020202020204"/>
                <a:sym typeface="Arial" panose="020B0604020202020204"/>
              </a:rPr>
              <a:t>STATE MACHINE DIAGRAM</a:t>
            </a:r>
          </a:p>
        </p:txBody>
      </p:sp>
      <p:pic>
        <p:nvPicPr>
          <p:cNvPr id="3" name="Picture 2" descr="state_diagram_crop.png"/>
          <p:cNvPicPr>
            <a:picLocks noChangeAspect="1"/>
          </p:cNvPicPr>
          <p:nvPr/>
        </p:nvPicPr>
        <p:blipFill>
          <a:blip r:embed="rId2"/>
          <a:stretch>
            <a:fillRect/>
          </a:stretch>
        </p:blipFill>
        <p:spPr>
          <a:xfrm>
            <a:off x="182880" y="1143000"/>
            <a:ext cx="3749039" cy="3429000"/>
          </a:xfrm>
          <a:prstGeom prst="rect">
            <a:avLst/>
          </a:prstGeom>
        </p:spPr>
      </p:pic>
      <p:sp>
        <p:nvSpPr>
          <p:cNvPr id="4" name="TextBox 3"/>
          <p:cNvSpPr txBox="1"/>
          <p:nvPr/>
        </p:nvSpPr>
        <p:spPr>
          <a:xfrm>
            <a:off x="3977639" y="960120"/>
            <a:ext cx="4800600" cy="3794760"/>
          </a:xfrm>
          <a:prstGeom prst="rect">
            <a:avLst/>
          </a:prstGeom>
          <a:noFill/>
        </p:spPr>
        <p:txBody>
          <a:bodyPr wrap="square">
            <a:spAutoFit/>
          </a:bodyPr>
          <a:lstStyle/>
          <a:p>
            <a:pPr marL="0" marR="0" lvl="0" indent="0" algn="l" defTabSz="914400" rtl="0" eaLnBrk="1" fontAlgn="auto" latinLnBrk="0" hangingPunct="1">
              <a:lnSpc>
                <a:spcPct val="105000"/>
              </a:lnSpc>
              <a:spcBef>
                <a:spcPts val="0"/>
              </a:spcBef>
              <a:spcAft>
                <a:spcPts val="1000"/>
              </a:spcAft>
              <a:buClr>
                <a:srgbClr val="000000"/>
              </a:buClr>
              <a:buSzTx/>
              <a:buFont typeface="Arial" panose="020B0604020202020204"/>
              <a:buNone/>
              <a:tabLst/>
              <a:defRPr sz="1350">
                <a:solidFill>
                  <a:srgbClr val="000000"/>
                </a:solidFill>
                <a:latin typeface="Arial"/>
              </a:defRPr>
            </a:pPr>
            <a:r>
              <a:rPr kumimoji="0" sz="1350" b="0" i="0" u="none" strike="noStrike" kern="0" cap="none" spc="0" normalizeH="0" baseline="0" noProof="0">
                <a:ln>
                  <a:noFill/>
                </a:ln>
                <a:solidFill>
                  <a:srgbClr val="000000"/>
                </a:solidFill>
                <a:effectLst/>
                <a:uLnTx/>
                <a:uFillTx/>
                <a:latin typeface="Arial"/>
                <a:cs typeface="Arial" panose="020B0604020202020204"/>
                <a:sym typeface="Arial" panose="020B0604020202020204"/>
              </a:rPr>
              <a:t>The State Machine Diagram represents the different states of a detection during the verification process. The process begins when a vessel or STS event is detected directly in Sentinel-1 SAR imagery as its own detection class.</a:t>
            </a:r>
          </a:p>
          <a:p>
            <a:pPr marL="0" marR="0" lvl="0" indent="0" algn="l" defTabSz="914400" rtl="0" eaLnBrk="1" fontAlgn="auto" latinLnBrk="0" hangingPunct="1">
              <a:lnSpc>
                <a:spcPct val="105000"/>
              </a:lnSpc>
              <a:spcBef>
                <a:spcPts val="0"/>
              </a:spcBef>
              <a:spcAft>
                <a:spcPts val="1000"/>
              </a:spcAft>
              <a:buClr>
                <a:srgbClr val="000000"/>
              </a:buClr>
              <a:buSzTx/>
              <a:buFont typeface="Arial" panose="020B0604020202020204"/>
              <a:buNone/>
              <a:tabLst/>
              <a:defRPr sz="1350">
                <a:solidFill>
                  <a:srgbClr val="000000"/>
                </a:solidFill>
                <a:latin typeface="Arial"/>
              </a:defRPr>
            </a:pPr>
            <a:r>
              <a:rPr kumimoji="0" sz="1350" b="0" i="0" u="none" strike="noStrike" kern="0" cap="none" spc="0" normalizeH="0" baseline="0" noProof="0">
                <a:ln>
                  <a:noFill/>
                </a:ln>
                <a:solidFill>
                  <a:srgbClr val="000000"/>
                </a:solidFill>
                <a:effectLst/>
                <a:uLnTx/>
                <a:uFillTx/>
                <a:latin typeface="Arial"/>
                <a:cs typeface="Arial" panose="020B0604020202020204"/>
                <a:sym typeface="Arial" panose="020B0604020202020204"/>
              </a:rPr>
              <a:t>The detection is checked against AIS records within a time window. If two or more matching identities are found, it moves to AIS Matched and continues under normal monitoring. If fewer than two matches are found, it enters the Dark state (and, for a Dark vessel detection specifically, is first passed through false-positive filtering to rule out SAR artifacts).</a:t>
            </a:r>
          </a:p>
          <a:p>
            <a:pPr marL="0" marR="0" lvl="0" indent="0" algn="l" defTabSz="914400" rtl="0" eaLnBrk="1" fontAlgn="auto" latinLnBrk="0" hangingPunct="1">
              <a:lnSpc>
                <a:spcPct val="105000"/>
              </a:lnSpc>
              <a:spcBef>
                <a:spcPts val="0"/>
              </a:spcBef>
              <a:spcAft>
                <a:spcPts val="1000"/>
              </a:spcAft>
              <a:buClr>
                <a:srgbClr val="000000"/>
              </a:buClr>
              <a:buSzTx/>
              <a:buFont typeface="Arial" panose="020B0604020202020204"/>
              <a:buNone/>
              <a:tabLst/>
              <a:defRPr sz="1350">
                <a:solidFill>
                  <a:srgbClr val="000000"/>
                </a:solidFill>
                <a:latin typeface="Arial"/>
              </a:defRPr>
            </a:pPr>
            <a:r>
              <a:rPr kumimoji="0" sz="1350" b="0" i="0" u="none" strike="noStrike" kern="0" cap="none" spc="0" normalizeH="0" baseline="0" noProof="0">
                <a:ln>
                  <a:noFill/>
                </a:ln>
                <a:solidFill>
                  <a:srgbClr val="000000"/>
                </a:solidFill>
                <a:effectLst/>
                <a:uLnTx/>
                <a:uFillTx/>
                <a:latin typeface="Arial"/>
                <a:cs typeface="Arial" panose="020B0604020202020204"/>
                <a:sym typeface="Arial" panose="020B0604020202020204"/>
              </a:rPr>
              <a:t>If the Dark detection's class is STS (already identified by the detector as a rafted-vessel event, not inferred from proximity between two vessels), the state changes to STS Suspected. The event is analyzed, cross-checked against GFW's global layers, scored, an alert is generated, and the event is closed.</a:t>
            </a:r>
          </a:p>
        </p:txBody>
      </p:sp>
      <p:sp>
        <p:nvSpPr>
          <p:cNvPr id="5" name="TextBox 4"/>
          <p:cNvSpPr txBox="1"/>
          <p:nvPr/>
        </p:nvSpPr>
        <p:spPr>
          <a:xfrm>
            <a:off x="3383280" y="4718304"/>
            <a:ext cx="2423160" cy="29260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sz="1000" b="0" i="0" u="none" strike="noStrike" kern="0" cap="none" spc="0" normalizeH="0" baseline="0" noProof="0">
                <a:ln>
                  <a:noFill/>
                </a:ln>
                <a:solidFill>
                  <a:srgbClr val="646464"/>
                </a:solidFill>
                <a:effectLst/>
                <a:uLnTx/>
                <a:uFillTx/>
                <a:latin typeface="Arial"/>
                <a:cs typeface="Arial" panose="020B0604020202020204"/>
                <a:sym typeface="Arial" panose="020B0604020202020204"/>
              </a:rPr>
              <a:t>Department of computer Science</a:t>
            </a:r>
          </a:p>
        </p:txBody>
      </p:sp>
      <p:sp>
        <p:nvSpPr>
          <p:cNvPr id="6" name="TextBox 5"/>
          <p:cNvSpPr txBox="1"/>
          <p:nvPr/>
        </p:nvSpPr>
        <p:spPr>
          <a:xfrm>
            <a:off x="8321040" y="4709160"/>
            <a:ext cx="320040" cy="2743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sz="900" b="0" i="0" u="none" strike="noStrike" kern="0" cap="none" spc="0" normalizeH="0" baseline="0" noProof="0">
                <a:ln>
                  <a:noFill/>
                </a:ln>
                <a:solidFill>
                  <a:srgbClr val="646464"/>
                </a:solidFill>
                <a:effectLst/>
                <a:uLnTx/>
                <a:uFillTx/>
                <a:latin typeface="Arial"/>
                <a:cs typeface="Arial" panose="020B0604020202020204"/>
                <a:sym typeface="Arial" panose="020B0604020202020204"/>
              </a:rPr>
              <a:t>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5960" y="274320"/>
            <a:ext cx="5257800" cy="59436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sz="3000" b="0" i="0" u="none" strike="noStrike" kern="0" cap="none" spc="0" normalizeH="0" baseline="0" noProof="0">
                <a:ln>
                  <a:noFill/>
                </a:ln>
                <a:solidFill>
                  <a:srgbClr val="000000"/>
                </a:solidFill>
                <a:effectLst/>
                <a:uLnTx/>
                <a:uFillTx/>
                <a:latin typeface="Times New Roman"/>
                <a:cs typeface="Arial" panose="020B0604020202020204"/>
                <a:sym typeface="Arial" panose="020B0604020202020204"/>
              </a:rPr>
              <a:t>DEPLOYMENT DIAGRAM</a:t>
            </a:r>
          </a:p>
        </p:txBody>
      </p:sp>
      <p:pic>
        <p:nvPicPr>
          <p:cNvPr id="3" name="Picture 2" descr="deployment_diagram_crop.png"/>
          <p:cNvPicPr>
            <a:picLocks noChangeAspect="1"/>
          </p:cNvPicPr>
          <p:nvPr/>
        </p:nvPicPr>
        <p:blipFill>
          <a:blip r:embed="rId2"/>
          <a:stretch>
            <a:fillRect/>
          </a:stretch>
        </p:blipFill>
        <p:spPr>
          <a:xfrm>
            <a:off x="182880" y="1143000"/>
            <a:ext cx="3749039" cy="3429000"/>
          </a:xfrm>
          <a:prstGeom prst="rect">
            <a:avLst/>
          </a:prstGeom>
        </p:spPr>
      </p:pic>
      <p:sp>
        <p:nvSpPr>
          <p:cNvPr id="4" name="TextBox 3"/>
          <p:cNvSpPr txBox="1"/>
          <p:nvPr/>
        </p:nvSpPr>
        <p:spPr>
          <a:xfrm>
            <a:off x="3977639" y="960120"/>
            <a:ext cx="4800600" cy="3794760"/>
          </a:xfrm>
          <a:prstGeom prst="rect">
            <a:avLst/>
          </a:prstGeom>
          <a:noFill/>
        </p:spPr>
        <p:txBody>
          <a:bodyPr wrap="square">
            <a:spAutoFit/>
          </a:bodyPr>
          <a:lstStyle/>
          <a:p>
            <a:pPr marL="0" marR="0" lvl="0" indent="0" algn="l" defTabSz="914400" rtl="0" eaLnBrk="1" fontAlgn="auto" latinLnBrk="0" hangingPunct="1">
              <a:lnSpc>
                <a:spcPct val="105000"/>
              </a:lnSpc>
              <a:spcBef>
                <a:spcPts val="0"/>
              </a:spcBef>
              <a:spcAft>
                <a:spcPts val="1000"/>
              </a:spcAft>
              <a:buClr>
                <a:srgbClr val="000000"/>
              </a:buClr>
              <a:buSzTx/>
              <a:buFont typeface="Arial" panose="020B0604020202020204"/>
              <a:buNone/>
              <a:tabLst/>
              <a:defRPr sz="1350">
                <a:solidFill>
                  <a:srgbClr val="000000"/>
                </a:solidFill>
                <a:latin typeface="Arial"/>
              </a:defRPr>
            </a:pPr>
            <a:r>
              <a:rPr kumimoji="0" sz="1350" b="0" i="0" u="none" strike="noStrike" kern="0" cap="none" spc="0" normalizeH="0" baseline="0" noProof="0">
                <a:ln>
                  <a:noFill/>
                </a:ln>
                <a:solidFill>
                  <a:srgbClr val="000000"/>
                </a:solidFill>
                <a:effectLst/>
                <a:uLnTx/>
                <a:uFillTx/>
                <a:latin typeface="Arial"/>
                <a:cs typeface="Arial" panose="020B0604020202020204"/>
                <a:sym typeface="Arial" panose="020B0604020202020204"/>
              </a:rPr>
              <a:t>The Deployment Diagram represents where the software components of the Dark Ship-to-Ship Transfer Detection System are deployed. It shows the user device, network, application server, database server, and external data sources.</a:t>
            </a:r>
          </a:p>
          <a:p>
            <a:pPr marL="0" marR="0" lvl="0" indent="0" algn="l" defTabSz="914400" rtl="0" eaLnBrk="1" fontAlgn="auto" latinLnBrk="0" hangingPunct="1">
              <a:lnSpc>
                <a:spcPct val="105000"/>
              </a:lnSpc>
              <a:spcBef>
                <a:spcPts val="0"/>
              </a:spcBef>
              <a:spcAft>
                <a:spcPts val="1000"/>
              </a:spcAft>
              <a:buClr>
                <a:srgbClr val="000000"/>
              </a:buClr>
              <a:buSzTx/>
              <a:buFont typeface="Arial" panose="020B0604020202020204"/>
              <a:buNone/>
              <a:tabLst/>
              <a:defRPr sz="1350">
                <a:solidFill>
                  <a:srgbClr val="000000"/>
                </a:solidFill>
                <a:latin typeface="Arial"/>
              </a:defRPr>
            </a:pPr>
            <a:r>
              <a:rPr kumimoji="0" sz="1350" b="0" i="0" u="none" strike="noStrike" kern="0" cap="none" spc="0" normalizeH="0" baseline="0" noProof="0">
                <a:ln>
                  <a:noFill/>
                </a:ln>
                <a:solidFill>
                  <a:srgbClr val="000000"/>
                </a:solidFill>
                <a:effectLst/>
                <a:uLnTx/>
                <a:uFillTx/>
                <a:latin typeface="Arial"/>
                <a:cs typeface="Arial" panose="020B0604020202020204"/>
                <a:sym typeface="Arial" panose="020B0604020202020204"/>
              </a:rPr>
              <a:t>The user accesses the system through a web browser/dashboard over the Internet. The application server hosts the web application, backend API, YOLOv8 vessel detection module, and event analysis and scoring components.</a:t>
            </a:r>
          </a:p>
          <a:p>
            <a:pPr marL="0" marR="0" lvl="0" indent="0" algn="l" defTabSz="914400" rtl="0" eaLnBrk="1" fontAlgn="auto" latinLnBrk="0" hangingPunct="1">
              <a:lnSpc>
                <a:spcPct val="105000"/>
              </a:lnSpc>
              <a:spcBef>
                <a:spcPts val="0"/>
              </a:spcBef>
              <a:spcAft>
                <a:spcPts val="1000"/>
              </a:spcAft>
              <a:buClr>
                <a:srgbClr val="000000"/>
              </a:buClr>
              <a:buSzTx/>
              <a:buFont typeface="Arial" panose="020B0604020202020204"/>
              <a:buNone/>
              <a:tabLst/>
              <a:defRPr sz="1350">
                <a:solidFill>
                  <a:srgbClr val="000000"/>
                </a:solidFill>
                <a:latin typeface="Arial"/>
              </a:defRPr>
            </a:pPr>
            <a:r>
              <a:rPr kumimoji="0" sz="1350" b="0" i="0" u="none" strike="noStrike" kern="0" cap="none" spc="0" normalizeH="0" baseline="0" noProof="0">
                <a:ln>
                  <a:noFill/>
                </a:ln>
                <a:solidFill>
                  <a:srgbClr val="000000"/>
                </a:solidFill>
                <a:effectLst/>
                <a:uLnTx/>
                <a:uFillTx/>
                <a:latin typeface="Arial"/>
                <a:cs typeface="Arial" panose="020B0604020202020204"/>
                <a:sym typeface="Arial" panose="020B0604020202020204"/>
              </a:rPr>
              <a:t>The application server communicates with Sentinel-1 SAR imagery, AIS data providers, and map services through APIs. Detected vessel data, AIS information, events, and logs are stored in the PostgreSQL/MongoDB database.</a:t>
            </a:r>
          </a:p>
        </p:txBody>
      </p:sp>
      <p:sp>
        <p:nvSpPr>
          <p:cNvPr id="5" name="TextBox 4"/>
          <p:cNvSpPr txBox="1"/>
          <p:nvPr/>
        </p:nvSpPr>
        <p:spPr>
          <a:xfrm>
            <a:off x="3383280" y="4718304"/>
            <a:ext cx="2423160" cy="292608"/>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sz="1000" b="0" i="0" u="none" strike="noStrike" kern="0" cap="none" spc="0" normalizeH="0" baseline="0" noProof="0">
                <a:ln>
                  <a:noFill/>
                </a:ln>
                <a:solidFill>
                  <a:srgbClr val="646464"/>
                </a:solidFill>
                <a:effectLst/>
                <a:uLnTx/>
                <a:uFillTx/>
                <a:latin typeface="Arial"/>
                <a:cs typeface="Arial" panose="020B0604020202020204"/>
                <a:sym typeface="Arial" panose="020B0604020202020204"/>
              </a:rPr>
              <a:t>Department of computer Science</a:t>
            </a:r>
          </a:p>
        </p:txBody>
      </p:sp>
      <p:sp>
        <p:nvSpPr>
          <p:cNvPr id="6" name="TextBox 5"/>
          <p:cNvSpPr txBox="1"/>
          <p:nvPr/>
        </p:nvSpPr>
        <p:spPr>
          <a:xfrm>
            <a:off x="8321040" y="4709160"/>
            <a:ext cx="320040" cy="2743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sz="900" b="0" i="0" u="none" strike="noStrike" kern="0" cap="none" spc="0" normalizeH="0" baseline="0" noProof="0">
                <a:ln>
                  <a:noFill/>
                </a:ln>
                <a:solidFill>
                  <a:srgbClr val="646464"/>
                </a:solidFill>
                <a:effectLst/>
                <a:uLnTx/>
                <a:uFillTx/>
                <a:latin typeface="Arial"/>
                <a:cs typeface="Arial" panose="020B0604020202020204"/>
                <a:sym typeface="Arial" panose="020B0604020202020204"/>
              </a:rPr>
              <a:t>17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CB93E-659B-6831-6CF6-59E87ECCB050}"/>
              </a:ext>
            </a:extLst>
          </p:cNvPr>
          <p:cNvSpPr>
            <a:spLocks noGrp="1"/>
          </p:cNvSpPr>
          <p:nvPr>
            <p:ph type="ctrTitle"/>
          </p:nvPr>
        </p:nvSpPr>
        <p:spPr>
          <a:xfrm>
            <a:off x="2263140" y="423267"/>
            <a:ext cx="4617720" cy="553998"/>
          </a:xfrm>
        </p:spPr>
        <p:txBody>
          <a:bodyPr/>
          <a:lstStyle/>
          <a:p>
            <a:r>
              <a:rPr lang="en-US" dirty="0"/>
              <a:t>OVERALL WORKFLOW</a:t>
            </a:r>
            <a:endParaRPr lang="en-IN" dirty="0"/>
          </a:p>
        </p:txBody>
      </p:sp>
      <p:sp>
        <p:nvSpPr>
          <p:cNvPr id="4" name="Footer Placeholder 3">
            <a:extLst>
              <a:ext uri="{FF2B5EF4-FFF2-40B4-BE49-F238E27FC236}">
                <a16:creationId xmlns:a16="http://schemas.microsoft.com/office/drawing/2014/main" id="{01C58B51-819B-53FD-1A2C-E75E365CC664}"/>
              </a:ext>
            </a:extLst>
          </p:cNvPr>
          <p:cNvSpPr>
            <a:spLocks noGrp="1"/>
          </p:cNvSpPr>
          <p:nvPr>
            <p:ph type="ftr" idx="11"/>
          </p:nvPr>
        </p:nvSpPr>
        <p:spPr/>
        <p:txBody>
          <a:bodyPr/>
          <a:lstStyle/>
          <a:p>
            <a:r>
              <a:rPr lang="en-US"/>
              <a:t>Department of computer Science</a:t>
            </a:r>
          </a:p>
        </p:txBody>
      </p:sp>
      <p:sp>
        <p:nvSpPr>
          <p:cNvPr id="5" name="Slide Number Placeholder 4">
            <a:extLst>
              <a:ext uri="{FF2B5EF4-FFF2-40B4-BE49-F238E27FC236}">
                <a16:creationId xmlns:a16="http://schemas.microsoft.com/office/drawing/2014/main" id="{4C4DC8BE-4B5D-AA7C-DF2E-24983A797787}"/>
              </a:ext>
            </a:extLst>
          </p:cNvPr>
          <p:cNvSpPr>
            <a:spLocks noGrp="1"/>
          </p:cNvSpPr>
          <p:nvPr>
            <p:ph type="sldNum" idx="12"/>
          </p:nvPr>
        </p:nvSpPr>
        <p:spPr/>
        <p:txBody>
          <a:bodyPr/>
          <a:lstStyle/>
          <a:p>
            <a:pPr marL="131445" lvl="0" indent="0" algn="l" rtl="0">
              <a:spcBef>
                <a:spcPts val="0"/>
              </a:spcBef>
              <a:spcAft>
                <a:spcPts val="0"/>
              </a:spcAft>
              <a:buNone/>
            </a:pPr>
            <a:fld id="{00000000-1234-1234-1234-123412341234}" type="slidenum">
              <a:rPr lang="en-US" smtClean="0"/>
              <a:pPr marL="131445" lvl="0" indent="0" algn="l" rtl="0">
                <a:spcBef>
                  <a:spcPts val="0"/>
                </a:spcBef>
                <a:spcAft>
                  <a:spcPts val="0"/>
                </a:spcAft>
                <a:buNone/>
              </a:pPr>
              <a:t>20</a:t>
            </a:fld>
            <a:endParaRPr lang="en-US"/>
          </a:p>
        </p:txBody>
      </p:sp>
      <p:pic>
        <p:nvPicPr>
          <p:cNvPr id="99" name="Diagram Image"/>
          <p:cNvPicPr>
            <a:picLocks noChangeAspect="1"/>
          </p:cNvPicPr>
          <p:nvPr/>
        </p:nvPicPr>
        <p:blipFill>
          <a:blip r:embed="rId2"/>
          <a:stretch>
            <a:fillRect/>
          </a:stretch>
        </p:blipFill>
        <p:spPr>
          <a:xfrm>
            <a:off x="1393751" y="1347919"/>
            <a:ext cx="6356497" cy="3141994"/>
          </a:xfrm>
          <a:prstGeom prst="rect">
            <a:avLst/>
          </a:prstGeom>
        </p:spPr>
      </p:pic>
    </p:spTree>
    <p:extLst>
      <p:ext uri="{BB962C8B-B14F-4D97-AF65-F5344CB8AC3E}">
        <p14:creationId xmlns:p14="http://schemas.microsoft.com/office/powerpoint/2010/main" val="3841277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1B5F05D-EB66-BAD5-30FE-DB806D28B9FF}"/>
              </a:ext>
            </a:extLst>
          </p:cNvPr>
          <p:cNvSpPr>
            <a:spLocks noGrp="1"/>
          </p:cNvSpPr>
          <p:nvPr>
            <p:ph type="subTitle" idx="1"/>
          </p:nvPr>
        </p:nvSpPr>
        <p:spPr>
          <a:xfrm>
            <a:off x="612987" y="743371"/>
            <a:ext cx="7918026" cy="3939540"/>
          </a:xfrm>
        </p:spPr>
        <p:txBody>
          <a:bodyPr/>
          <a:lstStyle/>
          <a:p>
            <a:r>
              <a:rPr lang="en-US" sz="1400" dirty="0"/>
              <a:t>     </a:t>
            </a:r>
            <a:r>
              <a:rPr lang="en-US" sz="1600" dirty="0"/>
              <a:t>The Overall Workflow shows how the Dark Ship-to-Ship Transfer Detection System works from raw satellite data to a final flagged result. </a:t>
            </a:r>
          </a:p>
          <a:p>
            <a:r>
              <a:rPr lang="en-US" sz="1600" dirty="0"/>
              <a:t>                 Sentinel-1 SAR imagery is fetched pre-calibrated, and AIS is used both to auto-generate training labels (Danish waters) and to verify detections anywhere. The imagery is tiled and passed through a YOLOv8 detector that identifies vessels and STS events as separate classes. Each detection is filtered, then cross-checked against AIS and GFW's global layers; STS events with fewer than two matching identities are flagged dark and scored, displayed on the dashboard.</a:t>
            </a:r>
          </a:p>
          <a:p>
            <a:endParaRPr lang="en-US" sz="1600" dirty="0"/>
          </a:p>
          <a:p>
            <a:r>
              <a:rPr lang="en-US" sz="1600" dirty="0"/>
              <a:t>Key Points</a:t>
            </a:r>
          </a:p>
          <a:p>
            <a:pPr marL="514350" indent="-285750">
              <a:buFont typeface="Arial" panose="020B0604020202020204" pitchFamily="34" charset="0"/>
              <a:buChar char="•"/>
            </a:pPr>
            <a:r>
              <a:rPr lang="en-US" sz="1600" dirty="0"/>
              <a:t>Sentinel-1 SAR imagery and AIS data are downloaded for free.</a:t>
            </a:r>
          </a:p>
          <a:p>
            <a:pPr marL="514350" indent="-285750">
              <a:buFont typeface="Arial" panose="020B0604020202020204" pitchFamily="34" charset="0"/>
              <a:buChar char="•"/>
            </a:pPr>
            <a:r>
              <a:rPr lang="en-US" sz="1600" dirty="0"/>
              <a:t>YOLOv8 detects vessels and STS events as separate classes in SAR tiles.</a:t>
            </a:r>
          </a:p>
          <a:p>
            <a:pPr marL="514350" indent="-285750">
              <a:buFont typeface="Arial" panose="020B0604020202020204" pitchFamily="34" charset="0"/>
              <a:buChar char="•"/>
            </a:pPr>
            <a:r>
              <a:rPr lang="en-US" sz="1600" dirty="0"/>
              <a:t>Detections are filtered, then cross-verified against AIS and GFW's global layers.</a:t>
            </a:r>
          </a:p>
          <a:p>
            <a:pPr marL="514350" indent="-285750">
              <a:buFont typeface="Arial" panose="020B0604020202020204" pitchFamily="34" charset="0"/>
              <a:buChar char="•"/>
            </a:pPr>
            <a:r>
              <a:rPr lang="en-US" sz="1600" dirty="0"/>
              <a:t>STS events with fewer than two matching AIS identities are flagged dark.</a:t>
            </a:r>
          </a:p>
          <a:p>
            <a:pPr marL="514350" indent="-285750">
              <a:buFont typeface="Arial" panose="020B0604020202020204" pitchFamily="34" charset="0"/>
              <a:buChar char="•"/>
            </a:pPr>
            <a:r>
              <a:rPr lang="en-US" sz="1600" dirty="0"/>
              <a:t>Dark STS events are scored for transfer suspicion.</a:t>
            </a:r>
          </a:p>
          <a:p>
            <a:pPr marL="514350" indent="-285750">
              <a:buFont typeface="Arial" panose="020B0604020202020204" pitchFamily="34" charset="0"/>
              <a:buChar char="•"/>
            </a:pPr>
            <a:r>
              <a:rPr lang="en-US" sz="1600" dirty="0"/>
              <a:t>Results are displayed on the map dashboard.</a:t>
            </a:r>
            <a:endParaRPr lang="en-IN" sz="1600" dirty="0"/>
          </a:p>
        </p:txBody>
      </p:sp>
      <p:sp>
        <p:nvSpPr>
          <p:cNvPr id="4" name="Footer Placeholder 3">
            <a:extLst>
              <a:ext uri="{FF2B5EF4-FFF2-40B4-BE49-F238E27FC236}">
                <a16:creationId xmlns:a16="http://schemas.microsoft.com/office/drawing/2014/main" id="{59C867B8-7C82-70A4-41B8-CD324D0F8B51}"/>
              </a:ext>
            </a:extLst>
          </p:cNvPr>
          <p:cNvSpPr>
            <a:spLocks noGrp="1"/>
          </p:cNvSpPr>
          <p:nvPr>
            <p:ph type="ftr" idx="11"/>
          </p:nvPr>
        </p:nvSpPr>
        <p:spPr/>
        <p:txBody>
          <a:bodyPr/>
          <a:lstStyle/>
          <a:p>
            <a:r>
              <a:rPr lang="en-US"/>
              <a:t>Department of computer Science</a:t>
            </a:r>
          </a:p>
        </p:txBody>
      </p:sp>
      <p:sp>
        <p:nvSpPr>
          <p:cNvPr id="5" name="Slide Number Placeholder 4">
            <a:extLst>
              <a:ext uri="{FF2B5EF4-FFF2-40B4-BE49-F238E27FC236}">
                <a16:creationId xmlns:a16="http://schemas.microsoft.com/office/drawing/2014/main" id="{E7C6F537-5589-2E4F-41A6-50A685072E43}"/>
              </a:ext>
            </a:extLst>
          </p:cNvPr>
          <p:cNvSpPr>
            <a:spLocks noGrp="1"/>
          </p:cNvSpPr>
          <p:nvPr>
            <p:ph type="sldNum" idx="12"/>
          </p:nvPr>
        </p:nvSpPr>
        <p:spPr/>
        <p:txBody>
          <a:bodyPr/>
          <a:lstStyle/>
          <a:p>
            <a:pPr marL="131445" lvl="0" indent="0" algn="l" rtl="0">
              <a:spcBef>
                <a:spcPts val="0"/>
              </a:spcBef>
              <a:spcAft>
                <a:spcPts val="0"/>
              </a:spcAft>
              <a:buNone/>
            </a:pPr>
            <a:fld id="{00000000-1234-1234-1234-123412341234}" type="slidenum">
              <a:rPr lang="en-US" smtClean="0"/>
              <a:pPr marL="131445" lvl="0" indent="0" algn="l" rtl="0">
                <a:spcBef>
                  <a:spcPts val="0"/>
                </a:spcBef>
                <a:spcAft>
                  <a:spcPts val="0"/>
                </a:spcAft>
                <a:buNone/>
              </a:pPr>
              <a:t>21</a:t>
            </a:fld>
            <a:endParaRPr lang="en-US"/>
          </a:p>
        </p:txBody>
      </p:sp>
    </p:spTree>
    <p:extLst>
      <p:ext uri="{BB962C8B-B14F-4D97-AF65-F5344CB8AC3E}">
        <p14:creationId xmlns:p14="http://schemas.microsoft.com/office/powerpoint/2010/main" val="2784804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61849" y="704720"/>
            <a:ext cx="7083972" cy="3911730"/>
          </a:xfrm>
        </p:spPr>
        <p:txBody>
          <a:bodyPr/>
          <a:lstStyle/>
          <a:p>
            <a:pPr algn="ctr"/>
            <a:endParaRPr lang="en-US" sz="4800" dirty="0"/>
          </a:p>
          <a:p>
            <a:pPr algn="ctr"/>
            <a:endParaRPr lang="en-US" sz="4800" dirty="0"/>
          </a:p>
          <a:p>
            <a:pPr algn="ctr"/>
            <a:r>
              <a:rPr lang="en-US" sz="4800" dirty="0"/>
              <a:t>Queries?</a:t>
            </a:r>
            <a:endParaRPr lang="en-IN" sz="4800" dirty="0"/>
          </a:p>
          <a:p>
            <a:endParaRPr lang="en-US" dirty="0"/>
          </a:p>
        </p:txBody>
      </p:sp>
      <p:sp>
        <p:nvSpPr>
          <p:cNvPr id="4" name="Footer Placeholder 3"/>
          <p:cNvSpPr>
            <a:spLocks noGrp="1"/>
          </p:cNvSpPr>
          <p:nvPr>
            <p:ph type="ftr" idx="11"/>
          </p:nvPr>
        </p:nvSpPr>
        <p:spPr/>
        <p:txBody>
          <a:bodyPr/>
          <a:lstStyle/>
          <a:p>
            <a:r>
              <a:rPr lang="en-US"/>
              <a:t>Department of computer Science</a:t>
            </a:r>
          </a:p>
        </p:txBody>
      </p:sp>
      <p:sp>
        <p:nvSpPr>
          <p:cNvPr id="5" name="Slide Number Placeholder 4"/>
          <p:cNvSpPr>
            <a:spLocks noGrp="1"/>
          </p:cNvSpPr>
          <p:nvPr>
            <p:ph type="sldNum" idx="12"/>
          </p:nvPr>
        </p:nvSpPr>
        <p:spPr>
          <a:xfrm>
            <a:off x="8365490" y="4799612"/>
            <a:ext cx="278130" cy="184666"/>
          </a:xfrm>
        </p:spPr>
        <p:txBody>
          <a:bodyPr/>
          <a:lstStyle/>
          <a:p>
            <a:pPr marL="131445" lvl="0" indent="0" algn="l" rtl="0">
              <a:spcBef>
                <a:spcPts val="0"/>
              </a:spcBef>
              <a:spcAft>
                <a:spcPts val="0"/>
              </a:spcAft>
              <a:buNone/>
            </a:pPr>
            <a:fld id="{00000000-1234-1234-1234-123412341234}" type="slidenum">
              <a:rPr lang="en-US" smtClean="0">
                <a:solidFill>
                  <a:schemeClr val="bg1"/>
                </a:solidFill>
              </a:rPr>
              <a:pPr marL="131445" lvl="0" indent="0" algn="l" rtl="0">
                <a:spcBef>
                  <a:spcPts val="0"/>
                </a:spcBef>
                <a:spcAft>
                  <a:spcPts val="0"/>
                </a:spcAft>
                <a:buNone/>
              </a:pPr>
              <a:t>22</a:t>
            </a:fld>
            <a:endParaRPr lang="en-US"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733</TotalTime>
  <Words>2295</Words>
  <Application>Microsoft Office PowerPoint</Application>
  <PresentationFormat>On-screen Show (16:9)</PresentationFormat>
  <Paragraphs>142</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Times New Roman</vt:lpstr>
      <vt:lpstr>Arial</vt:lpstr>
      <vt:lpstr>Cambria</vt:lpstr>
      <vt:lpstr>Calibri</vt:lpstr>
      <vt:lpstr>Office Theme</vt:lpstr>
      <vt:lpstr> </vt:lpstr>
      <vt:lpstr>ABSTRACT</vt:lpstr>
      <vt:lpstr>PROBLEM STATEMENT</vt:lpstr>
      <vt:lpstr>EXISTING SYSTEM</vt:lpstr>
      <vt:lpstr>LITERATURE SURVEY</vt:lpstr>
      <vt:lpstr>PROPOSED SYSTEM</vt:lpstr>
      <vt:lpstr>ADVANTAGES</vt:lpstr>
      <vt:lpstr>DISADVANTAGES</vt:lpstr>
      <vt:lpstr>INTRODUCTION (DESIGN) </vt:lpstr>
      <vt:lpstr> </vt:lpstr>
      <vt:lpstr>PowerPoint Presentation</vt:lpstr>
      <vt:lpstr>CLASS DIAGRAM</vt:lpstr>
      <vt:lpstr> USECASE DIAGRAM</vt:lpstr>
      <vt:lpstr>ACTIVITY DIAGRAM</vt:lpstr>
      <vt:lpstr>SEQUENCE DIAGRAM</vt:lpstr>
      <vt:lpstr>COMPONENT DIAGRAM</vt:lpstr>
      <vt:lpstr>PowerPoint Presentation</vt:lpstr>
      <vt:lpstr>PowerPoint Presentation</vt:lpstr>
      <vt:lpstr>PowerPoint Presentation</vt:lpstr>
      <vt:lpstr>OVERALL WORKFLOW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Dr.J Balaraju</dc:creator>
  <cp:lastModifiedBy>Ravinder Pagidimarri</cp:lastModifiedBy>
  <cp:revision>65</cp:revision>
  <dcterms:created xsi:type="dcterms:W3CDTF">2025-02-14T06:09:00Z</dcterms:created>
  <dcterms:modified xsi:type="dcterms:W3CDTF">2026-09-15T17:13:45Z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2025-02-07T17:00:00Z</vt:filetime>
  </property>
  <property fmtid="{D5CDD505-2E9C-101B-9397-08002B2CF9AE}" pid="3" name="Creator">
    <vt:lpwstr>WPS Presentation</vt:lpwstr>
  </property>
  <property fmtid="{D5CDD505-2E9C-101B-9397-08002B2CF9AE}" pid="4" name="LastSaved">
    <vt:filetime>2025-02-13T17:00:00Z</vt:filetime>
  </property>
  <property fmtid="{D5CDD505-2E9C-101B-9397-08002B2CF9AE}" pid="5" name="SourceModified">
    <vt:lpwstr>D:20250208122445+05'30'</vt:lpwstr>
  </property>
  <property fmtid="{D5CDD505-2E9C-101B-9397-08002B2CF9AE}" pid="6" name="ICV">
    <vt:lpwstr>C967EC685B904BDF80AD44D2A371DE26_12</vt:lpwstr>
  </property>
  <property fmtid="{D5CDD505-2E9C-101B-9397-08002B2CF9AE}" pid="7" name="KSOProductBuildVer">
    <vt:lpwstr>1033-12.2.0.22549</vt:lpwstr>
  </property>
</Properties>
</file>